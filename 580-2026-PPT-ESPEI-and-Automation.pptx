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1787" r:id="rId3"/>
    <p:sldId id="1762" r:id="rId4"/>
    <p:sldId id="1034" r:id="rId5"/>
    <p:sldId id="1775" r:id="rId6"/>
    <p:sldId id="1766" r:id="rId7"/>
    <p:sldId id="1774" r:id="rId8"/>
    <p:sldId id="1778" r:id="rId9"/>
    <p:sldId id="1779" r:id="rId10"/>
    <p:sldId id="1781" r:id="rId11"/>
    <p:sldId id="1783" r:id="rId12"/>
    <p:sldId id="1785" r:id="rId13"/>
    <p:sldId id="1782" r:id="rId14"/>
    <p:sldId id="1786" r:id="rId15"/>
    <p:sldId id="1773" r:id="rId16"/>
    <p:sldId id="323" r:id="rId17"/>
    <p:sldId id="328" r:id="rId18"/>
    <p:sldId id="325" r:id="rId19"/>
    <p:sldId id="1763" r:id="rId20"/>
    <p:sldId id="1767" r:id="rId21"/>
    <p:sldId id="1769" r:id="rId22"/>
    <p:sldId id="1771" r:id="rId23"/>
    <p:sldId id="1788" r:id="rId24"/>
    <p:sldId id="1789" r:id="rId25"/>
    <p:sldId id="138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BC552-DCA6-A442-B1D6-C9317D3BC9C5}" v="37" dt="2023-11-02T16:36:23.103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FF3F7-EFED-C24D-9712-B60BED0DAA5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64B0C-B231-1C45-B80A-44DE9901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11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Brando liquid the </a:t>
            </a:r>
          </a:p>
          <a:p>
            <a:r>
              <a:rPr lang="en-US"/>
              <a:t>Pop file for liquid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C60A5-47C1-4A5D-8EBF-D0DD92D41D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68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C3C0-36F8-67B4-C4D4-C71770E43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7914-D7A4-1843-2178-BE380A34F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C0087-8167-F23D-916A-42DAD1CE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CD852-A019-57D0-9B25-D1D86544C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3B7A3-A498-E300-8EC2-6A56FE7C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1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2EBF-0F13-CD73-3A58-31218A4A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97A3-5D67-6FAA-7A1A-8BC648A43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B2339-314D-A4D0-03B7-A611C671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59E52-8EB9-1E79-7718-80839016C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DF614-23D8-2DEF-4EAF-39AB9074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9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F244-A213-190D-48CD-0CE0B9FD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338FE-8B7A-4D75-15B4-E95138FFE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46D0-7FA5-CE5B-6044-E05FBB9A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9F14D-12B4-6598-C2FC-EC70FC35A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11594-733A-5B8F-A7E3-83958029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14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C5E9-EAB7-AFF9-9EEB-B19A87A1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0C779-7D43-6DF9-B743-C5F126223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4E59F-AA4C-C1AA-7ACC-6D1918D5F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31F3B-52EF-6F3F-B179-FF69E9B7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AF20A-8709-0F7A-8C2C-A9CF6630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60FB6-1DB8-6A13-21D4-0E514BEF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1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D7195-8F27-32D4-7086-DC8487C06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BB8BC-5110-7B13-C9A9-FAC0B2749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4C102-8CA0-E7F4-541F-9800F833E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94AC2D-FCBF-DF22-10CC-A9EC27FBA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12713-C712-1830-1571-940EF770F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4B9ED5-6081-BBC8-341D-0B710CC2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D95F5-CF94-E812-DC14-75233432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2BF093-69AC-BAE0-C6FC-952814D7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95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0518-E111-A01F-9188-16918961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65258-AFC6-9E54-A833-393379EA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36DC9-46B7-952C-A502-AE63419E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E7926-0074-A2F8-7F9F-D01E08FC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1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6F77D-9D9F-6BA0-D4E5-322A0624F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A16A3-DEC7-7455-09E1-EC923026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09E59-5B55-A816-8A1F-33509876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39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AC36-C3DD-1ADD-6D87-B9AB4D287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E9893-1865-38CF-EB02-80F4E2130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E946E-793D-7762-14C9-28F3DD821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DF8B9-521E-D971-12BE-E38EC873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C104E-4B32-5993-57B5-6FD8C6D4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A4BE0-6945-CBA5-4FE6-AA17CDD1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45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0051B-A2C0-B0A7-D5C8-B72A972FD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8B488-2A8B-2505-E3BE-34CD9882B0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BC763-97B0-5F82-5E5B-260665ACB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4A025-9831-6BB3-F0AA-14545672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8E798-B264-D792-1E75-F96B79BE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61D59-A4A8-7AE6-C542-028F336C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0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490B-33C7-E686-E497-EFE17EC4E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A973E-778C-8F14-758A-1A7DAF7E0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477E5-99BF-9A15-1A8C-1AB0BAA78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E34EB-C32D-66A6-384E-7C21C46B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7FD80-625B-6A0C-7AB3-43CAE936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4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255D3F-3915-C624-4C3B-DBBC5D2B1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B77ED0-5833-042A-A03B-BACE040BF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10D2E-451A-A880-E985-C4E91C16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1D3F3-A76C-4979-EB3D-C680851E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300F4-3779-07EA-4F3B-4BCEF9A1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4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52C1A-5893-D41D-B6EE-85B2462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3A333-348B-05B0-3A83-19F860465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8BC7D-0E91-B7F7-C47B-5913F2168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A1718-8C75-DD42-8B76-628EB0541A0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1252F-AC56-F47F-6051-E84ADC2E5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E69C1-38DD-6E3F-9E83-F53F4A632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99EFE-05B7-734B-A9A8-1591B377D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77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spaces.new/ShuangLin212/MatSE580GuestLectures" TargetMode="External"/><Relationship Id="rId2" Type="http://schemas.openxmlformats.org/officeDocument/2006/relationships/hyperlink" Target="https://github.com/PhasesResearchLab/MatSE580GuestLectur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spei.org/en/latest/" TargetMode="External"/><Relationship Id="rId2" Type="http://schemas.openxmlformats.org/officeDocument/2006/relationships/hyperlink" Target="https://doi.org/10.1557/mrc.2019.5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haseslab.com/#/resource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2B287-5A4C-1306-915A-D1401CB5DD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Automation of thermodynamic modeling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178B9-E648-28C8-74D6-AD058AF1DC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Alexander Richter, Shuang Lin</a:t>
            </a:r>
          </a:p>
          <a:p>
            <a:r>
              <a:rPr lang="en-US" dirty="0"/>
              <a:t>Oct 29</a:t>
            </a:r>
            <a:r>
              <a:rPr lang="en-US" baseline="30000" dirty="0"/>
              <a:t>th</a:t>
            </a:r>
            <a:r>
              <a:rPr lang="en-US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77267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35EEF-AE8B-00E2-6F71-8D283F8A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Codes on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A655-8FE0-3869-E01D-EFAB78DBC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Github</a:t>
            </a:r>
            <a:r>
              <a:rPr lang="en-US" dirty="0"/>
              <a:t> website: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https://github.com/PhasesResearchLab/MatSE580GuestLectures</a:t>
            </a:r>
            <a:endParaRPr lang="en-US" dirty="0">
              <a:hlinkClick r:id="rId3"/>
            </a:endParaRPr>
          </a:p>
          <a:p>
            <a:pPr marL="0" indent="0">
              <a:buNone/>
            </a:pPr>
            <a:endParaRPr lang="en-US" dirty="0"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3426724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618F-6D6C-DEDD-86A2-39CFEB31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1C322-ECDA-163C-C3CC-6B088053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5765-A3E5-494C-8F99-0247005E0447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19E34-52CC-FC00-52B9-1163F28FC262}"/>
              </a:ext>
            </a:extLst>
          </p:cNvPr>
          <p:cNvSpPr txBox="1"/>
          <p:nvPr/>
        </p:nvSpPr>
        <p:spPr>
          <a:xfrm>
            <a:off x="375536" y="1783285"/>
            <a:ext cx="768724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Motivation and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5" dirty="0">
                <a:ea typeface="SimSun" panose="02010600030101010101" pitchFamily="2" charset="-122"/>
              </a:rPr>
              <a:t>Certain areas of parameterization and refinement procedure remain manual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5" dirty="0">
                <a:ea typeface="SimSun" panose="02010600030101010101" pitchFamily="2" charset="-122"/>
              </a:rPr>
              <a:t>I</a:t>
            </a:r>
            <a:r>
              <a:rPr lang="en-US" sz="1800" b="0" spc="-5" dirty="0">
                <a:effectLst/>
                <a:latin typeface="+mn-lt"/>
                <a:ea typeface="SimSun" panose="02010600030101010101" pitchFamily="2" charset="-122"/>
              </a:rPr>
              <a:t>mprove efficiency and reliability of CALPHAD modeling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5B18A-815E-09E5-C065-C07257A9AA0E}"/>
              </a:ext>
            </a:extLst>
          </p:cNvPr>
          <p:cNvSpPr txBox="1"/>
          <p:nvPr/>
        </p:nvSpPr>
        <p:spPr>
          <a:xfrm>
            <a:off x="375534" y="2972242"/>
            <a:ext cx="7687243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rtl="0" fontAlgn="base"/>
            <a:r>
              <a:rPr lang="en-US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Open-source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computational tools and our uniqueness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</a:rPr>
              <a:t>PySIPFENN</a:t>
            </a:r>
            <a:r>
              <a:rPr lang="en-US" dirty="0">
                <a:latin typeface="Calibri" panose="020F0502020204030204" pitchFamily="34" charset="0"/>
              </a:rPr>
              <a:t>: Python package allows efficient predictions of the formation energy of atomic configurations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Calibri" panose="020F0502020204030204" pitchFamily="34" charset="0"/>
              </a:rPr>
              <a:t>DFTTK</a:t>
            </a:r>
            <a:r>
              <a:rPr lang="en-US" b="0" i="0" u="none" strike="noStrike" dirty="0">
                <a:effectLst/>
                <a:latin typeface="Calibri" panose="020F0502020204030204" pitchFamily="34" charset="0"/>
              </a:rPr>
              <a:t>: High-throughput first-principles calculations Tool Kit</a:t>
            </a:r>
            <a:r>
              <a:rPr lang="en-US" b="0" i="0" dirty="0"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i="0" u="none" strike="noStrike" dirty="0" err="1">
                <a:effectLst/>
                <a:latin typeface="Calibri" panose="020F0502020204030204" pitchFamily="34" charset="0"/>
              </a:rPr>
              <a:t>PyCalphad</a:t>
            </a:r>
            <a:r>
              <a:rPr lang="en-US" b="0" i="0" u="none" strike="noStrike" dirty="0">
                <a:effectLst/>
                <a:latin typeface="Calibri" panose="020F0502020204030204" pitchFamily="34" charset="0"/>
              </a:rPr>
              <a:t>: Python library for computational thermodynamics using the CALPHAD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Calibri" panose="020F0502020204030204" pitchFamily="34" charset="0"/>
              </a:rPr>
              <a:t>ESPEI</a:t>
            </a:r>
            <a:r>
              <a:rPr lang="en-US" b="0" i="0" u="none" strike="noStrike" dirty="0">
                <a:effectLst/>
                <a:latin typeface="Calibri" panose="020F0502020204030204" pitchFamily="34" charset="0"/>
              </a:rPr>
              <a:t>: High-throughput modeling tool for </a:t>
            </a:r>
            <a:r>
              <a:rPr lang="en-US" b="0" i="0" dirty="0">
                <a:effectLst/>
                <a:latin typeface="Calibri" panose="020F0502020204030204" pitchFamily="34" charset="0"/>
              </a:rPr>
              <a:t>​creating CALPHAD databases</a:t>
            </a:r>
            <a:endParaRPr lang="en-US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3237F-C813-36C5-0A2A-E97092A2E6A1}"/>
              </a:ext>
            </a:extLst>
          </p:cNvPr>
          <p:cNvSpPr txBox="1"/>
          <p:nvPr/>
        </p:nvSpPr>
        <p:spPr>
          <a:xfrm>
            <a:off x="375534" y="5269194"/>
            <a:ext cx="76872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1" spc="-5" dirty="0">
                <a:effectLst/>
                <a:latin typeface="+mn-lt"/>
                <a:ea typeface="SimSun" panose="02010600030101010101" pitchFamily="2" charset="-122"/>
              </a:rPr>
              <a:t>Application and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5" dirty="0">
                <a:ea typeface="SimSun" panose="02010600030101010101" pitchFamily="2" charset="-122"/>
              </a:rPr>
              <a:t>Applying in building 9 refractory elements thermodynamic database (</a:t>
            </a:r>
            <a:r>
              <a:rPr lang="en-US" dirty="0"/>
              <a:t>Cr-Hf-Mo-Nb-Ta-</a:t>
            </a:r>
            <a:r>
              <a:rPr lang="en-US" dirty="0" err="1"/>
              <a:t>Ti</a:t>
            </a:r>
            <a:r>
              <a:rPr lang="en-US" dirty="0"/>
              <a:t>-V-W-Zr)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5" dirty="0">
                <a:ea typeface="SimSun" panose="02010600030101010101" pitchFamily="2" charset="-122"/>
              </a:rPr>
              <a:t>Demo with Hf-Mo system</a:t>
            </a:r>
            <a:endParaRPr lang="en-US" sz="1800" b="0" spc="-5" dirty="0">
              <a:effectLst/>
              <a:latin typeface="+mn-lt"/>
              <a:ea typeface="SimSun" panose="02010600030101010101" pitchFamily="2" charset="-122"/>
            </a:endParaRPr>
          </a:p>
        </p:txBody>
      </p:sp>
      <p:pic>
        <p:nvPicPr>
          <p:cNvPr id="12" name="Content Placeholder 4" descr="A picture containing text, screenshot, font, diagram&#10;&#10;Description automatically generated">
            <a:extLst>
              <a:ext uri="{FF2B5EF4-FFF2-40B4-BE49-F238E27FC236}">
                <a16:creationId xmlns:a16="http://schemas.microsoft.com/office/drawing/2014/main" id="{4FBFBCB7-C6C7-47D5-5464-36D8A63BD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085" y="148383"/>
            <a:ext cx="3771231" cy="65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9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2589-6DBB-7D21-B5B4-5B073611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ESPEI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A62A5-A36E-D64D-7051-47F12B147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 i="0" dirty="0">
                <a:effectLst/>
                <a:latin typeface="-apple-system"/>
              </a:rPr>
              <a:t>ESPEI, or Extensible Self-optimizing Phase Equilibria Infrastructure, is a tool for </a:t>
            </a:r>
            <a:r>
              <a:rPr lang="en-US" b="0" i="0" dirty="0">
                <a:solidFill>
                  <a:srgbClr val="FF0000"/>
                </a:solidFill>
                <a:effectLst/>
                <a:latin typeface="-apple-system"/>
              </a:rPr>
              <a:t>creating CALPHAD databases</a:t>
            </a:r>
            <a:r>
              <a:rPr lang="en-US" b="0" i="0" dirty="0">
                <a:effectLst/>
                <a:latin typeface="-apple-system"/>
              </a:rPr>
              <a:t> and </a:t>
            </a:r>
            <a:r>
              <a:rPr lang="en-US" b="0" i="0" dirty="0">
                <a:solidFill>
                  <a:srgbClr val="FF0000"/>
                </a:solidFill>
                <a:effectLst/>
                <a:latin typeface="-apple-system"/>
              </a:rPr>
              <a:t>evaluating the uncertainty </a:t>
            </a:r>
            <a:r>
              <a:rPr lang="en-US" b="0" i="0" dirty="0">
                <a:effectLst/>
                <a:latin typeface="-apple-system"/>
              </a:rPr>
              <a:t>of CALPHAD models.</a:t>
            </a:r>
          </a:p>
          <a:p>
            <a:r>
              <a:rPr lang="en-US" b="0" i="0" dirty="0">
                <a:effectLst/>
                <a:latin typeface="-apple-system"/>
              </a:rPr>
              <a:t>What does ESPEI do?</a:t>
            </a:r>
          </a:p>
          <a:p>
            <a:pPr lvl="1"/>
            <a:r>
              <a:rPr lang="en-US" b="0" i="0" dirty="0">
                <a:effectLst/>
                <a:latin typeface="-apple-system"/>
              </a:rPr>
              <a:t>Parameter generation: generate model parameters for CALPHAD models of the Gibbs energy</a:t>
            </a:r>
          </a:p>
          <a:p>
            <a:pPr lvl="1"/>
            <a:r>
              <a:rPr lang="en-US" b="0" i="0" dirty="0">
                <a:effectLst/>
                <a:latin typeface="-apple-system"/>
              </a:rPr>
              <a:t>Optimization and uncertainty quantification: optimize and quantify the uncertainty of CALPHAD model parameters to thermochemical and phase boundary data</a:t>
            </a:r>
          </a:p>
          <a:p>
            <a:r>
              <a:rPr lang="en-US" dirty="0"/>
              <a:t>Reference: </a:t>
            </a:r>
            <a:r>
              <a:rPr lang="en-US" b="0" i="0" dirty="0">
                <a:effectLst/>
                <a:latin typeface="-apple-system"/>
              </a:rPr>
              <a:t>B. </a:t>
            </a:r>
            <a:r>
              <a:rPr lang="en-US" b="0" i="0" dirty="0" err="1">
                <a:effectLst/>
                <a:latin typeface="-apple-system"/>
              </a:rPr>
              <a:t>Bocklund</a:t>
            </a:r>
            <a:r>
              <a:rPr lang="en-US" b="0" i="0" dirty="0">
                <a:effectLst/>
                <a:latin typeface="-apple-system"/>
              </a:rPr>
              <a:t> </a:t>
            </a:r>
            <a:r>
              <a:rPr lang="en-US" b="0" i="1" dirty="0">
                <a:effectLst/>
                <a:latin typeface="-apple-system"/>
              </a:rPr>
              <a:t>et al.</a:t>
            </a:r>
            <a:r>
              <a:rPr lang="en-US" b="0" i="0" dirty="0">
                <a:effectLst/>
                <a:latin typeface="-apple-system"/>
              </a:rPr>
              <a:t>, MRS Communications 9(2) (2019) 1–10. doi:</a:t>
            </a:r>
            <a:r>
              <a:rPr lang="en-US" b="0" i="0" dirty="0">
                <a:effectLst/>
                <a:latin typeface="-apple-system"/>
                <a:hlinkClick r:id="rId2"/>
              </a:rPr>
              <a:t>10.1557/mrc.2019.59</a:t>
            </a:r>
            <a:r>
              <a:rPr lang="en-US" b="0" i="0" dirty="0">
                <a:effectLst/>
                <a:latin typeface="-apple-system"/>
              </a:rPr>
              <a:t>.</a:t>
            </a:r>
            <a:endParaRPr lang="en-US" dirty="0"/>
          </a:p>
          <a:p>
            <a:r>
              <a:rPr lang="en-US" dirty="0"/>
              <a:t>Websites: </a:t>
            </a:r>
            <a:r>
              <a:rPr lang="en-US" dirty="0">
                <a:hlinkClick r:id="rId3"/>
              </a:rPr>
              <a:t>https://espei.org/en/latest/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253F3-BF7B-41C6-E8C2-9FCEE86F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41C38-6451-A44D-9244-0E3914C371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0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0393-ABF0-A8FA-E0EE-9368F40C3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name database</a:t>
            </a:r>
          </a:p>
        </p:txBody>
      </p:sp>
      <p:pic>
        <p:nvPicPr>
          <p:cNvPr id="5" name="Content Placeholder 4" descr="A computer screen shot of white text&#10;&#10;Description automatically generated">
            <a:extLst>
              <a:ext uri="{FF2B5EF4-FFF2-40B4-BE49-F238E27FC236}">
                <a16:creationId xmlns:a16="http://schemas.microsoft.com/office/drawing/2014/main" id="{90A4F09C-877A-8FE0-9A9C-1DE9E7BFC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45" b="-1"/>
          <a:stretch/>
        </p:blipFill>
        <p:spPr>
          <a:xfrm>
            <a:off x="838200" y="2537098"/>
            <a:ext cx="4150479" cy="395577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336785-3C30-815E-6B0C-47B0B9318DD5}"/>
              </a:ext>
            </a:extLst>
          </p:cNvPr>
          <p:cNvSpPr txBox="1"/>
          <p:nvPr/>
        </p:nvSpPr>
        <p:spPr>
          <a:xfrm>
            <a:off x="838200" y="1690688"/>
            <a:ext cx="5563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ESPEI-</a:t>
            </a:r>
            <a:r>
              <a:rPr lang="en-US" sz="2800" dirty="0" err="1"/>
              <a:t>name.JSON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89593-A50A-2AA5-1C50-F054A3032759}"/>
              </a:ext>
            </a:extLst>
          </p:cNvPr>
          <p:cNvSpPr txBox="1"/>
          <p:nvPr/>
        </p:nvSpPr>
        <p:spPr>
          <a:xfrm>
            <a:off x="5379720" y="1690020"/>
            <a:ext cx="59740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Provides the structure information: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Aliases_Name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Space_Group_Number</a:t>
            </a:r>
            <a:r>
              <a:rPr lang="en-US" sz="2000" dirty="0"/>
              <a:t>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Strukturbericht_Designation</a:t>
            </a:r>
            <a:r>
              <a:rPr lang="en-US" sz="2000" dirty="0"/>
              <a:t>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Prototype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Wyckoff_Positions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aflow_ID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FC4F59-BA3D-201B-56BC-8AF2F376DDB3}"/>
              </a:ext>
            </a:extLst>
          </p:cNvPr>
          <p:cNvSpPr txBox="1"/>
          <p:nvPr/>
        </p:nvSpPr>
        <p:spPr>
          <a:xfrm>
            <a:off x="5379720" y="4466681"/>
            <a:ext cx="59740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Benefits: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Consistent phase names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Easy to add and update the phase information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B9FF2F-EF95-AB90-2D52-182FAA3DE582}"/>
              </a:ext>
            </a:extLst>
          </p:cNvPr>
          <p:cNvSpPr txBox="1"/>
          <p:nvPr/>
        </p:nvSpPr>
        <p:spPr>
          <a:xfrm>
            <a:off x="5379720" y="5605454"/>
            <a:ext cx="59740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Practice: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Try to find the phases information of your selected binary system </a:t>
            </a:r>
          </a:p>
        </p:txBody>
      </p:sp>
    </p:spTree>
    <p:extLst>
      <p:ext uri="{BB962C8B-B14F-4D97-AF65-F5344CB8AC3E}">
        <p14:creationId xmlns:p14="http://schemas.microsoft.com/office/powerpoint/2010/main" val="362564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C41C-74AF-E126-0E0F-CBCFFCCF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LAVES phases of Hf-Mo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59075-CD88-C489-EF69-EA04680A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5765-A3E5-494C-8F99-0247005E0447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9E0FD3CF-CA84-B6F1-D2D8-57D05485BC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7674695"/>
                  </p:ext>
                </p:extLst>
              </p:nvPr>
            </p:nvGraphicFramePr>
            <p:xfrm>
              <a:off x="2966243" y="1840879"/>
              <a:ext cx="9029721" cy="3176241"/>
            </p:xfrm>
            <a:graphic>
              <a:graphicData uri="http://schemas.openxmlformats.org/drawingml/2006/table">
                <a:tbl>
                  <a:tblPr firstRow="1" bandRow="1">
                    <a:tableStyleId>{3C2FFA5D-87B4-456A-9821-1D502468CF0F}</a:tableStyleId>
                  </a:tblPr>
                  <a:tblGrid>
                    <a:gridCol w="1489615">
                      <a:extLst>
                        <a:ext uri="{9D8B030D-6E8A-4147-A177-3AD203B41FA5}">
                          <a16:colId xmlns:a16="http://schemas.microsoft.com/office/drawing/2014/main" val="3673330862"/>
                        </a:ext>
                      </a:extLst>
                    </a:gridCol>
                    <a:gridCol w="1469257">
                      <a:extLst>
                        <a:ext uri="{9D8B030D-6E8A-4147-A177-3AD203B41FA5}">
                          <a16:colId xmlns:a16="http://schemas.microsoft.com/office/drawing/2014/main" val="3287925861"/>
                        </a:ext>
                      </a:extLst>
                    </a:gridCol>
                    <a:gridCol w="1053267">
                      <a:extLst>
                        <a:ext uri="{9D8B030D-6E8A-4147-A177-3AD203B41FA5}">
                          <a16:colId xmlns:a16="http://schemas.microsoft.com/office/drawing/2014/main" val="3450209121"/>
                        </a:ext>
                      </a:extLst>
                    </a:gridCol>
                    <a:gridCol w="1875417">
                      <a:extLst>
                        <a:ext uri="{9D8B030D-6E8A-4147-A177-3AD203B41FA5}">
                          <a16:colId xmlns:a16="http://schemas.microsoft.com/office/drawing/2014/main" val="3424181232"/>
                        </a:ext>
                      </a:extLst>
                    </a:gridCol>
                    <a:gridCol w="1503490">
                      <a:extLst>
                        <a:ext uri="{9D8B030D-6E8A-4147-A177-3AD203B41FA5}">
                          <a16:colId xmlns:a16="http://schemas.microsoft.com/office/drawing/2014/main" val="2359990309"/>
                        </a:ext>
                      </a:extLst>
                    </a:gridCol>
                    <a:gridCol w="1638675">
                      <a:extLst>
                        <a:ext uri="{9D8B030D-6E8A-4147-A177-3AD203B41FA5}">
                          <a16:colId xmlns:a16="http://schemas.microsoft.com/office/drawing/2014/main" val="1227759078"/>
                        </a:ext>
                      </a:extLst>
                    </a:gridCol>
                  </a:tblGrid>
                  <a:tr h="10361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Phase name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dirty="0">
                              <a:solidFill>
                                <a:schemeClr val="lt1"/>
                              </a:solidFill>
                              <a:effectLst/>
                            </a:rPr>
                            <a:t>Prototype</a:t>
                          </a:r>
                          <a:endParaRPr lang="en-US" sz="2000" b="0" dirty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dirty="0">
                              <a:solidFill>
                                <a:schemeClr val="lt1"/>
                              </a:solidFill>
                              <a:effectLst/>
                            </a:rPr>
                            <a:t>Pearson Symbol</a:t>
                          </a:r>
                          <a:endParaRPr lang="en-US" sz="2000" b="0" dirty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err="1">
                              <a:solidFill>
                                <a:schemeClr val="lt1"/>
                              </a:solidFill>
                              <a:effectLst/>
                            </a:rPr>
                            <a:t>Strukturbericht</a:t>
                          </a:r>
                          <a:r>
                            <a:rPr lang="en-US" sz="2000" b="0" kern="1200">
                              <a:solidFill>
                                <a:schemeClr val="lt1"/>
                              </a:solidFill>
                              <a:effectLst/>
                            </a:rPr>
                            <a:t> </a:t>
                          </a:r>
                        </a:p>
                        <a:p>
                          <a:pPr algn="ctr"/>
                          <a:r>
                            <a:rPr lang="en-US" sz="2000" b="0" kern="1200">
                              <a:solidFill>
                                <a:schemeClr val="lt1"/>
                              </a:solidFill>
                              <a:effectLst/>
                            </a:rPr>
                            <a:t>Designation</a:t>
                          </a:r>
                          <a:endParaRPr lang="en-US" sz="2000" b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Space group (number)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Wyckoff Positions </a:t>
                          </a:r>
                        </a:p>
                      </a:txBody>
                      <a:tcPr marL="61540" marR="61540" marT="30770" marB="30770"/>
                    </a:tc>
                    <a:extLst>
                      <a:ext uri="{0D108BD9-81ED-4DB2-BD59-A6C34878D82A}">
                        <a16:rowId xmlns:a16="http://schemas.microsoft.com/office/drawing/2014/main" val="2039371179"/>
                      </a:ext>
                    </a:extLst>
                  </a:tr>
                  <a:tr h="713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aseline="0"/>
                            <a:t>LAVES_C15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MgCu</a:t>
                          </a:r>
                          <a:r>
                            <a:rPr lang="en-US" sz="2000" b="0" kern="1200" baseline="-25000" dirty="0">
                              <a:solidFill>
                                <a:schemeClr val="dk1"/>
                              </a:solidFill>
                              <a:effectLst/>
                            </a:rPr>
                            <a:t>2</a:t>
                          </a:r>
                          <a:endParaRPr lang="en-US" sz="2000" baseline="0" dirty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cF24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C15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𝐹𝑑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b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acc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2000"/>
                            <a:t> </a:t>
                          </a:r>
                        </a:p>
                        <a:p>
                          <a:pPr algn="ctr"/>
                          <a:r>
                            <a:rPr lang="en-US" sz="2000"/>
                            <a:t>(227)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8a,16d</a:t>
                          </a:r>
                        </a:p>
                      </a:txBody>
                      <a:tcPr marL="61540" marR="61540" marT="30770" marB="30770"/>
                    </a:tc>
                    <a:extLst>
                      <a:ext uri="{0D108BD9-81ED-4DB2-BD59-A6C34878D82A}">
                        <a16:rowId xmlns:a16="http://schemas.microsoft.com/office/drawing/2014/main" val="2886551121"/>
                      </a:ext>
                    </a:extLst>
                  </a:tr>
                  <a:tr h="713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LAVES_C14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MgZn</a:t>
                          </a:r>
                          <a:r>
                            <a:rPr lang="en-US" sz="2000" b="0" kern="1200" baseline="-25000" dirty="0">
                              <a:solidFill>
                                <a:schemeClr val="dk1"/>
                              </a:solidFill>
                              <a:effectLst/>
                            </a:rPr>
                            <a:t>2</a:t>
                          </a:r>
                          <a:endParaRPr lang="en-US" sz="2000" dirty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hP12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C14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P6</a:t>
                          </a:r>
                          <a:r>
                            <a:rPr lang="en-US" sz="2000" baseline="-25000"/>
                            <a:t>3</a:t>
                          </a:r>
                          <a:r>
                            <a:rPr lang="en-US" sz="2000"/>
                            <a:t>/mmc </a:t>
                          </a:r>
                        </a:p>
                        <a:p>
                          <a:pPr algn="ctr"/>
                          <a:r>
                            <a:rPr lang="en-US" sz="2000"/>
                            <a:t>(194)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2a,4f, 6h</a:t>
                          </a:r>
                        </a:p>
                      </a:txBody>
                      <a:tcPr marL="61540" marR="61540" marT="30770" marB="30770"/>
                    </a:tc>
                    <a:extLst>
                      <a:ext uri="{0D108BD9-81ED-4DB2-BD59-A6C34878D82A}">
                        <a16:rowId xmlns:a16="http://schemas.microsoft.com/office/drawing/2014/main" val="1483159679"/>
                      </a:ext>
                    </a:extLst>
                  </a:tr>
                  <a:tr h="713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LAVES_C36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MgNi</a:t>
                          </a:r>
                          <a:r>
                            <a:rPr lang="en-US" sz="2000" baseline="-25000" dirty="0"/>
                            <a:t>2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hP24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C36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P6</a:t>
                          </a:r>
                          <a:r>
                            <a:rPr lang="en-US" sz="2000" baseline="-25000" dirty="0"/>
                            <a:t>3</a:t>
                          </a:r>
                          <a:r>
                            <a:rPr lang="en-US" sz="2000" dirty="0"/>
                            <a:t>/mmc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(194)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4e,4f,4f,6g,6h</a:t>
                          </a:r>
                        </a:p>
                      </a:txBody>
                      <a:tcPr marL="61540" marR="61540" marT="30770" marB="30770"/>
                    </a:tc>
                    <a:extLst>
                      <a:ext uri="{0D108BD9-81ED-4DB2-BD59-A6C34878D82A}">
                        <a16:rowId xmlns:a16="http://schemas.microsoft.com/office/drawing/2014/main" val="24820832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9E0FD3CF-CA84-B6F1-D2D8-57D05485BC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7674695"/>
                  </p:ext>
                </p:extLst>
              </p:nvPr>
            </p:nvGraphicFramePr>
            <p:xfrm>
              <a:off x="2966243" y="1840879"/>
              <a:ext cx="9029721" cy="3176241"/>
            </p:xfrm>
            <a:graphic>
              <a:graphicData uri="http://schemas.openxmlformats.org/drawingml/2006/table">
                <a:tbl>
                  <a:tblPr firstRow="1" bandRow="1">
                    <a:tableStyleId>{3C2FFA5D-87B4-456A-9821-1D502468CF0F}</a:tableStyleId>
                  </a:tblPr>
                  <a:tblGrid>
                    <a:gridCol w="1489615">
                      <a:extLst>
                        <a:ext uri="{9D8B030D-6E8A-4147-A177-3AD203B41FA5}">
                          <a16:colId xmlns:a16="http://schemas.microsoft.com/office/drawing/2014/main" val="3673330862"/>
                        </a:ext>
                      </a:extLst>
                    </a:gridCol>
                    <a:gridCol w="1469257">
                      <a:extLst>
                        <a:ext uri="{9D8B030D-6E8A-4147-A177-3AD203B41FA5}">
                          <a16:colId xmlns:a16="http://schemas.microsoft.com/office/drawing/2014/main" val="3287925861"/>
                        </a:ext>
                      </a:extLst>
                    </a:gridCol>
                    <a:gridCol w="1053267">
                      <a:extLst>
                        <a:ext uri="{9D8B030D-6E8A-4147-A177-3AD203B41FA5}">
                          <a16:colId xmlns:a16="http://schemas.microsoft.com/office/drawing/2014/main" val="3450209121"/>
                        </a:ext>
                      </a:extLst>
                    </a:gridCol>
                    <a:gridCol w="1875417">
                      <a:extLst>
                        <a:ext uri="{9D8B030D-6E8A-4147-A177-3AD203B41FA5}">
                          <a16:colId xmlns:a16="http://schemas.microsoft.com/office/drawing/2014/main" val="3424181232"/>
                        </a:ext>
                      </a:extLst>
                    </a:gridCol>
                    <a:gridCol w="1503490">
                      <a:extLst>
                        <a:ext uri="{9D8B030D-6E8A-4147-A177-3AD203B41FA5}">
                          <a16:colId xmlns:a16="http://schemas.microsoft.com/office/drawing/2014/main" val="2359990309"/>
                        </a:ext>
                      </a:extLst>
                    </a:gridCol>
                    <a:gridCol w="1638675">
                      <a:extLst>
                        <a:ext uri="{9D8B030D-6E8A-4147-A177-3AD203B41FA5}">
                          <a16:colId xmlns:a16="http://schemas.microsoft.com/office/drawing/2014/main" val="1227759078"/>
                        </a:ext>
                      </a:extLst>
                    </a:gridCol>
                  </a:tblGrid>
                  <a:tr h="10361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Phase name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dirty="0">
                              <a:solidFill>
                                <a:schemeClr val="lt1"/>
                              </a:solidFill>
                              <a:effectLst/>
                            </a:rPr>
                            <a:t>Prototype</a:t>
                          </a:r>
                          <a:endParaRPr lang="en-US" sz="2000" b="0" dirty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dirty="0">
                              <a:solidFill>
                                <a:schemeClr val="lt1"/>
                              </a:solidFill>
                              <a:effectLst/>
                            </a:rPr>
                            <a:t>Pearson Symbol</a:t>
                          </a:r>
                          <a:endParaRPr lang="en-US" sz="2000" b="0" dirty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err="1">
                              <a:solidFill>
                                <a:schemeClr val="lt1"/>
                              </a:solidFill>
                              <a:effectLst/>
                            </a:rPr>
                            <a:t>Strukturbericht</a:t>
                          </a:r>
                          <a:r>
                            <a:rPr lang="en-US" sz="2000" b="0" kern="1200">
                              <a:solidFill>
                                <a:schemeClr val="lt1"/>
                              </a:solidFill>
                              <a:effectLst/>
                            </a:rPr>
                            <a:t> </a:t>
                          </a:r>
                        </a:p>
                        <a:p>
                          <a:pPr algn="ctr"/>
                          <a:r>
                            <a:rPr lang="en-US" sz="2000" b="0" kern="1200">
                              <a:solidFill>
                                <a:schemeClr val="lt1"/>
                              </a:solidFill>
                              <a:effectLst/>
                            </a:rPr>
                            <a:t>Designation</a:t>
                          </a:r>
                          <a:endParaRPr lang="en-US" sz="2000" b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Space group (number)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Wyckoff Positions </a:t>
                          </a:r>
                        </a:p>
                      </a:txBody>
                      <a:tcPr marL="61540" marR="61540" marT="30770" marB="30770"/>
                    </a:tc>
                    <a:extLst>
                      <a:ext uri="{0D108BD9-81ED-4DB2-BD59-A6C34878D82A}">
                        <a16:rowId xmlns:a16="http://schemas.microsoft.com/office/drawing/2014/main" val="2039371179"/>
                      </a:ext>
                    </a:extLst>
                  </a:tr>
                  <a:tr h="713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aseline="0"/>
                            <a:t>LAVES_C15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MgCu</a:t>
                          </a:r>
                          <a:r>
                            <a:rPr lang="en-US" sz="2000" b="0" kern="1200" baseline="-25000" dirty="0">
                              <a:solidFill>
                                <a:schemeClr val="dk1"/>
                              </a:solidFill>
                              <a:effectLst/>
                            </a:rPr>
                            <a:t>2</a:t>
                          </a:r>
                          <a:endParaRPr lang="en-US" sz="2000" baseline="0" dirty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cF24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C15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540" marR="61540" marT="30770" marB="30770">
                        <a:blipFill>
                          <a:blip r:embed="rId2"/>
                          <a:stretch>
                            <a:fillRect l="-389916" t="-149123" r="-109244" b="-208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8a,16d</a:t>
                          </a:r>
                        </a:p>
                      </a:txBody>
                      <a:tcPr marL="61540" marR="61540" marT="30770" marB="30770"/>
                    </a:tc>
                    <a:extLst>
                      <a:ext uri="{0D108BD9-81ED-4DB2-BD59-A6C34878D82A}">
                        <a16:rowId xmlns:a16="http://schemas.microsoft.com/office/drawing/2014/main" val="2886551121"/>
                      </a:ext>
                    </a:extLst>
                  </a:tr>
                  <a:tr h="713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LAVES_C14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MgZn</a:t>
                          </a:r>
                          <a:r>
                            <a:rPr lang="en-US" sz="2000" b="0" kern="1200" baseline="-25000" dirty="0">
                              <a:solidFill>
                                <a:schemeClr val="dk1"/>
                              </a:solidFill>
                              <a:effectLst/>
                            </a:rPr>
                            <a:t>2</a:t>
                          </a:r>
                          <a:endParaRPr lang="en-US" sz="2000" dirty="0"/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hP12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C14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P6</a:t>
                          </a:r>
                          <a:r>
                            <a:rPr lang="en-US" sz="2000" baseline="-25000"/>
                            <a:t>3</a:t>
                          </a:r>
                          <a:r>
                            <a:rPr lang="en-US" sz="2000"/>
                            <a:t>/mmc </a:t>
                          </a:r>
                        </a:p>
                        <a:p>
                          <a:pPr algn="ctr"/>
                          <a:r>
                            <a:rPr lang="en-US" sz="2000"/>
                            <a:t>(194)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2a,4f, 6h</a:t>
                          </a:r>
                        </a:p>
                      </a:txBody>
                      <a:tcPr marL="61540" marR="61540" marT="30770" marB="30770"/>
                    </a:tc>
                    <a:extLst>
                      <a:ext uri="{0D108BD9-81ED-4DB2-BD59-A6C34878D82A}">
                        <a16:rowId xmlns:a16="http://schemas.microsoft.com/office/drawing/2014/main" val="1483159679"/>
                      </a:ext>
                    </a:extLst>
                  </a:tr>
                  <a:tr h="713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LAVES_C36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MgNi</a:t>
                          </a:r>
                          <a:r>
                            <a:rPr lang="en-US" sz="2000" baseline="-25000" dirty="0"/>
                            <a:t>2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hP24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C36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P6</a:t>
                          </a:r>
                          <a:r>
                            <a:rPr lang="en-US" sz="2000" baseline="-25000" dirty="0"/>
                            <a:t>3</a:t>
                          </a:r>
                          <a:r>
                            <a:rPr lang="en-US" sz="2000" dirty="0"/>
                            <a:t>/mmc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(194)</a:t>
                          </a:r>
                        </a:p>
                      </a:txBody>
                      <a:tcPr marL="61540" marR="61540" marT="30770" marB="307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4e,4f,4f,6g,6h</a:t>
                          </a:r>
                        </a:p>
                      </a:txBody>
                      <a:tcPr marL="61540" marR="61540" marT="30770" marB="30770"/>
                    </a:tc>
                    <a:extLst>
                      <a:ext uri="{0D108BD9-81ED-4DB2-BD59-A6C34878D82A}">
                        <a16:rowId xmlns:a16="http://schemas.microsoft.com/office/drawing/2014/main" val="248208321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 descr="A diagram of a molecule&#10;&#10;Description automatically generated">
            <a:extLst>
              <a:ext uri="{FF2B5EF4-FFF2-40B4-BE49-F238E27FC236}">
                <a16:creationId xmlns:a16="http://schemas.microsoft.com/office/drawing/2014/main" id="{32D7CEBA-C503-30AB-B89C-A7DACE57E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04" y="3062322"/>
            <a:ext cx="1890486" cy="1472360"/>
          </a:xfrm>
          <a:prstGeom prst="rect">
            <a:avLst/>
          </a:prstGeom>
        </p:spPr>
      </p:pic>
      <p:pic>
        <p:nvPicPr>
          <p:cNvPr id="10" name="Picture 9" descr="A diagram of a molecule&#10;&#10;Description automatically generated">
            <a:extLst>
              <a:ext uri="{FF2B5EF4-FFF2-40B4-BE49-F238E27FC236}">
                <a16:creationId xmlns:a16="http://schemas.microsoft.com/office/drawing/2014/main" id="{B33197E1-F648-1D1D-B907-8109BCAE0B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9962"/>
            <a:ext cx="1890486" cy="1472360"/>
          </a:xfrm>
          <a:prstGeom prst="rect">
            <a:avLst/>
          </a:prstGeom>
        </p:spPr>
      </p:pic>
      <p:pic>
        <p:nvPicPr>
          <p:cNvPr id="12" name="Picture 11" descr="A diagram of a molecule&#10;&#10;Description automatically generated">
            <a:extLst>
              <a:ext uri="{FF2B5EF4-FFF2-40B4-BE49-F238E27FC236}">
                <a16:creationId xmlns:a16="http://schemas.microsoft.com/office/drawing/2014/main" id="{D34DACA4-20BE-D646-5EA8-2E6730583C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74" y="4666996"/>
            <a:ext cx="2169104" cy="16893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8C1709-4C18-31F8-ECF2-94C97632CB2F}"/>
              </a:ext>
            </a:extLst>
          </p:cNvPr>
          <p:cNvSpPr txBox="1"/>
          <p:nvPr/>
        </p:nvSpPr>
        <p:spPr>
          <a:xfrm>
            <a:off x="2931678" y="5469836"/>
            <a:ext cx="424198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-apple-system"/>
              </a:rPr>
              <a:t>Mg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 atoms in 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red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, </a:t>
            </a:r>
            <a:r>
              <a:rPr lang="en-US" b="0" i="0" dirty="0">
                <a:solidFill>
                  <a:srgbClr val="0000FF"/>
                </a:solidFill>
                <a:effectLst/>
                <a:latin typeface="-apple-system"/>
              </a:rPr>
              <a:t>Cu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 in blue, </a:t>
            </a:r>
            <a:r>
              <a:rPr lang="en-US" b="0" i="0" dirty="0">
                <a:solidFill>
                  <a:srgbClr val="3B0D16"/>
                </a:solidFill>
                <a:effectLst/>
                <a:latin typeface="-apple-system"/>
              </a:rPr>
              <a:t>Zn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 in </a:t>
            </a:r>
            <a:r>
              <a:rPr lang="en-US" dirty="0">
                <a:solidFill>
                  <a:srgbClr val="172B4D"/>
                </a:solidFill>
                <a:latin typeface="-apple-system"/>
              </a:rPr>
              <a:t>brown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 and </a:t>
            </a:r>
            <a:r>
              <a:rPr lang="en-US" b="0" i="0" dirty="0">
                <a:solidFill>
                  <a:srgbClr val="00FFFF"/>
                </a:solidFill>
                <a:effectLst/>
                <a:latin typeface="-apple-system"/>
              </a:rPr>
              <a:t>Ni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 in light </a:t>
            </a:r>
            <a:r>
              <a:rPr lang="en-US" dirty="0">
                <a:solidFill>
                  <a:srgbClr val="172B4D"/>
                </a:solidFill>
                <a:latin typeface="-apple-system"/>
              </a:rPr>
              <a:t>blue</a:t>
            </a:r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45587-61B1-EA58-1A3B-002A0C329251}"/>
              </a:ext>
            </a:extLst>
          </p:cNvPr>
          <p:cNvSpPr txBox="1"/>
          <p:nvPr/>
        </p:nvSpPr>
        <p:spPr>
          <a:xfrm>
            <a:off x="162046" y="2060294"/>
            <a:ext cx="70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9819F1-501C-D25C-FC64-B0F4459AEE5A}"/>
              </a:ext>
            </a:extLst>
          </p:cNvPr>
          <p:cNvSpPr txBox="1"/>
          <p:nvPr/>
        </p:nvSpPr>
        <p:spPr>
          <a:xfrm>
            <a:off x="162046" y="3627009"/>
            <a:ext cx="70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F6EFDD-1E65-F1E8-043E-A263E9A9F3DC}"/>
              </a:ext>
            </a:extLst>
          </p:cNvPr>
          <p:cNvSpPr txBox="1"/>
          <p:nvPr/>
        </p:nvSpPr>
        <p:spPr>
          <a:xfrm>
            <a:off x="162046" y="5409199"/>
            <a:ext cx="70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C36</a:t>
            </a:r>
          </a:p>
        </p:txBody>
      </p:sp>
    </p:spTree>
    <p:extLst>
      <p:ext uri="{BB962C8B-B14F-4D97-AF65-F5344CB8AC3E}">
        <p14:creationId xmlns:p14="http://schemas.microsoft.com/office/powerpoint/2010/main" val="104101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691E-9998-6F91-F152-0DC283E4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408D8-0CFA-991A-CE22-B8237CA8A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1692258"/>
            <a:ext cx="3773346" cy="4602506"/>
          </a:xfrm>
        </p:spPr>
        <p:txBody>
          <a:bodyPr>
            <a:normAutofit/>
          </a:bodyPr>
          <a:lstStyle/>
          <a:p>
            <a:r>
              <a:rPr lang="en-US" dirty="0"/>
              <a:t>Endmembers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 of each phase, where n is Wyckoff position</a:t>
            </a:r>
          </a:p>
          <a:p>
            <a:r>
              <a:rPr lang="en-US" dirty="0"/>
              <a:t>Dilute </a:t>
            </a:r>
          </a:p>
          <a:p>
            <a:pPr lvl="1"/>
            <a:r>
              <a:rPr lang="en-US" dirty="0"/>
              <a:t>n*2</a:t>
            </a:r>
            <a:r>
              <a:rPr lang="en-US" baseline="30000" dirty="0"/>
              <a:t>n </a:t>
            </a:r>
            <a:r>
              <a:rPr lang="en-US" dirty="0"/>
              <a:t>dilute POSCAR</a:t>
            </a:r>
            <a:endParaRPr lang="en-US" baseline="30000" dirty="0"/>
          </a:p>
          <a:p>
            <a:pPr lvl="1"/>
            <a:r>
              <a:rPr lang="en-US" dirty="0"/>
              <a:t>Near the most stable endmember</a:t>
            </a:r>
          </a:p>
          <a:p>
            <a:r>
              <a:rPr lang="en-US" dirty="0"/>
              <a:t>SQS</a:t>
            </a:r>
          </a:p>
          <a:p>
            <a:pPr lvl="1"/>
            <a:r>
              <a:rPr lang="en-US" dirty="0"/>
              <a:t>BCC and HCP template</a:t>
            </a:r>
          </a:p>
          <a:p>
            <a:pPr lvl="1"/>
            <a:r>
              <a:rPr lang="en-US" dirty="0"/>
              <a:t>SQS ATAT 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9E9AA5-A50F-F52E-4AC8-FAF453E5E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503271"/>
              </p:ext>
            </p:extLst>
          </p:nvPr>
        </p:nvGraphicFramePr>
        <p:xfrm>
          <a:off x="3940215" y="1690688"/>
          <a:ext cx="8120606" cy="4602507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537584">
                  <a:extLst>
                    <a:ext uri="{9D8B030D-6E8A-4147-A177-3AD203B41FA5}">
                      <a16:colId xmlns:a16="http://schemas.microsoft.com/office/drawing/2014/main" val="1716860354"/>
                    </a:ext>
                  </a:extLst>
                </a:gridCol>
                <a:gridCol w="2791511">
                  <a:extLst>
                    <a:ext uri="{9D8B030D-6E8A-4147-A177-3AD203B41FA5}">
                      <a16:colId xmlns:a16="http://schemas.microsoft.com/office/drawing/2014/main" val="704645461"/>
                    </a:ext>
                  </a:extLst>
                </a:gridCol>
                <a:gridCol w="2791511">
                  <a:extLst>
                    <a:ext uri="{9D8B030D-6E8A-4147-A177-3AD203B41FA5}">
                      <a16:colId xmlns:a16="http://schemas.microsoft.com/office/drawing/2014/main" val="2722651610"/>
                    </a:ext>
                  </a:extLst>
                </a:gridCol>
              </a:tblGrid>
              <a:tr h="103615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Phase name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Wyckoff Positions 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Sublattice models</a:t>
                      </a:r>
                    </a:p>
                  </a:txBody>
                  <a:tcPr marL="61540" marR="61540" marT="30770" marB="30770"/>
                </a:tc>
                <a:extLst>
                  <a:ext uri="{0D108BD9-81ED-4DB2-BD59-A6C34878D82A}">
                    <a16:rowId xmlns:a16="http://schemas.microsoft.com/office/drawing/2014/main" val="3779471996"/>
                  </a:ext>
                </a:extLst>
              </a:tr>
              <a:tr h="713816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/>
                        <a:t>LAVES_C15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8a,16d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1</a:t>
                      </a: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2</a:t>
                      </a:r>
                    </a:p>
                  </a:txBody>
                  <a:tcPr marL="61540" marR="61540" marT="30770" marB="30770"/>
                </a:tc>
                <a:extLst>
                  <a:ext uri="{0D108BD9-81ED-4DB2-BD59-A6C34878D82A}">
                    <a16:rowId xmlns:a16="http://schemas.microsoft.com/office/drawing/2014/main" val="177791417"/>
                  </a:ext>
                </a:extLst>
              </a:tr>
              <a:tr h="713133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LAVES_C14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2a,4f, 6h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1</a:t>
                      </a: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2</a:t>
                      </a: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3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marL="61540" marR="61540" marT="30770" marB="30770"/>
                </a:tc>
                <a:extLst>
                  <a:ext uri="{0D108BD9-81ED-4DB2-BD59-A6C34878D82A}">
                    <a16:rowId xmlns:a16="http://schemas.microsoft.com/office/drawing/2014/main" val="3023323097"/>
                  </a:ext>
                </a:extLst>
              </a:tr>
              <a:tr h="71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LAVES_C36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4e,4f,4f,6g,6h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2</a:t>
                      </a: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2</a:t>
                      </a: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2</a:t>
                      </a: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3</a:t>
                      </a: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3</a:t>
                      </a:r>
                    </a:p>
                  </a:txBody>
                  <a:tcPr marL="61540" marR="61540" marT="30770" marB="30770"/>
                </a:tc>
                <a:extLst>
                  <a:ext uri="{0D108BD9-81ED-4DB2-BD59-A6C34878D82A}">
                    <a16:rowId xmlns:a16="http://schemas.microsoft.com/office/drawing/2014/main" val="964776154"/>
                  </a:ext>
                </a:extLst>
              </a:tr>
              <a:tr h="71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BCC_A2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2a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1</a:t>
                      </a:r>
                      <a:r>
                        <a:rPr lang="en-US" sz="2000" dirty="0"/>
                        <a:t>(VA)</a:t>
                      </a:r>
                      <a:r>
                        <a:rPr lang="en-US" sz="2000" baseline="-25000" dirty="0"/>
                        <a:t>3</a:t>
                      </a:r>
                    </a:p>
                  </a:txBody>
                  <a:tcPr marL="61540" marR="61540" marT="30770" marB="30770"/>
                </a:tc>
                <a:extLst>
                  <a:ext uri="{0D108BD9-81ED-4DB2-BD59-A6C34878D82A}">
                    <a16:rowId xmlns:a16="http://schemas.microsoft.com/office/drawing/2014/main" val="1573507932"/>
                  </a:ext>
                </a:extLst>
              </a:tr>
              <a:tr h="71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HCP_A3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2c</a:t>
                      </a:r>
                    </a:p>
                  </a:txBody>
                  <a:tcPr marL="61540" marR="61540" marT="30770" marB="3077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Hf,Mo</a:t>
                      </a:r>
                      <a:r>
                        <a:rPr lang="en-US" sz="2000" dirty="0"/>
                        <a:t>)</a:t>
                      </a:r>
                      <a:r>
                        <a:rPr lang="en-US" sz="2000" baseline="-25000" dirty="0"/>
                        <a:t>1</a:t>
                      </a:r>
                      <a:r>
                        <a:rPr lang="en-US" sz="2000" dirty="0"/>
                        <a:t>(VA)</a:t>
                      </a:r>
                      <a:r>
                        <a:rPr lang="en-US" sz="2000" baseline="-25000" dirty="0"/>
                        <a:t>0.3</a:t>
                      </a:r>
                    </a:p>
                  </a:txBody>
                  <a:tcPr marL="61540" marR="61540" marT="30770" marB="30770"/>
                </a:tc>
                <a:extLst>
                  <a:ext uri="{0D108BD9-81ED-4DB2-BD59-A6C34878D82A}">
                    <a16:rowId xmlns:a16="http://schemas.microsoft.com/office/drawing/2014/main" val="42072902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F567B0-9571-03F6-6C12-EDA31BF5D6F3}"/>
              </a:ext>
            </a:extLst>
          </p:cNvPr>
          <p:cNvSpPr txBox="1"/>
          <p:nvPr/>
        </p:nvSpPr>
        <p:spPr>
          <a:xfrm>
            <a:off x="341934" y="6293195"/>
            <a:ext cx="3684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2"/>
              </a:rPr>
              <a:t>https://phaseslab.com/#/resources/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090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618F-6D6C-DEDD-86A2-39CFEB31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1C322-ECDA-163C-C3CC-6B088053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5765-A3E5-494C-8F99-0247005E0447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19E34-52CC-FC00-52B9-1163F28FC262}"/>
              </a:ext>
            </a:extLst>
          </p:cNvPr>
          <p:cNvSpPr txBox="1"/>
          <p:nvPr/>
        </p:nvSpPr>
        <p:spPr>
          <a:xfrm>
            <a:off x="375536" y="1783285"/>
            <a:ext cx="768724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Motivation and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5" dirty="0">
                <a:ea typeface="SimSun" panose="02010600030101010101" pitchFamily="2" charset="-122"/>
              </a:rPr>
              <a:t>Certain areas of parameterization and refinement procedure remain manual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5" dirty="0">
                <a:ea typeface="SimSun" panose="02010600030101010101" pitchFamily="2" charset="-122"/>
              </a:rPr>
              <a:t>I</a:t>
            </a:r>
            <a:r>
              <a:rPr lang="en-US" sz="1800" b="0" spc="-5" dirty="0">
                <a:effectLst/>
                <a:latin typeface="+mn-lt"/>
                <a:ea typeface="SimSun" panose="02010600030101010101" pitchFamily="2" charset="-122"/>
              </a:rPr>
              <a:t>mprove efficiency and reliability of CALPHAD modeling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5B18A-815E-09E5-C065-C07257A9AA0E}"/>
              </a:ext>
            </a:extLst>
          </p:cNvPr>
          <p:cNvSpPr txBox="1"/>
          <p:nvPr/>
        </p:nvSpPr>
        <p:spPr>
          <a:xfrm>
            <a:off x="375534" y="2972242"/>
            <a:ext cx="7687243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rtl="0" fontAlgn="base"/>
            <a:r>
              <a:rPr lang="en-US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Open-source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computational tools and our uniqueness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</a:rPr>
              <a:t>PySIPFENN</a:t>
            </a:r>
            <a:r>
              <a:rPr lang="en-US" dirty="0">
                <a:latin typeface="Calibri" panose="020F0502020204030204" pitchFamily="34" charset="0"/>
              </a:rPr>
              <a:t>: Python package allows efficient predictions of the formation energy of atomic configurations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Calibri" panose="020F0502020204030204" pitchFamily="34" charset="0"/>
              </a:rPr>
              <a:t>DFTTK</a:t>
            </a:r>
            <a:r>
              <a:rPr lang="en-US" b="0" i="0" u="none" strike="noStrike" dirty="0">
                <a:effectLst/>
                <a:latin typeface="Calibri" panose="020F0502020204030204" pitchFamily="34" charset="0"/>
              </a:rPr>
              <a:t>: High-throughput first-principles calculations Tool Kit</a:t>
            </a:r>
            <a:r>
              <a:rPr lang="en-US" b="0" i="0" dirty="0"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i="0" u="none" strike="noStrike" dirty="0" err="1">
                <a:effectLst/>
                <a:latin typeface="Calibri" panose="020F0502020204030204" pitchFamily="34" charset="0"/>
              </a:rPr>
              <a:t>PyCalphad</a:t>
            </a:r>
            <a:r>
              <a:rPr lang="en-US" b="0" i="0" u="none" strike="noStrike" dirty="0">
                <a:effectLst/>
                <a:latin typeface="Calibri" panose="020F0502020204030204" pitchFamily="34" charset="0"/>
              </a:rPr>
              <a:t>: Python library for computational thermodynamics using the CALPHAD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Calibri" panose="020F0502020204030204" pitchFamily="34" charset="0"/>
              </a:rPr>
              <a:t>ESPEI</a:t>
            </a:r>
            <a:r>
              <a:rPr lang="en-US" b="0" i="0" u="none" strike="noStrike" dirty="0">
                <a:effectLst/>
                <a:latin typeface="Calibri" panose="020F0502020204030204" pitchFamily="34" charset="0"/>
              </a:rPr>
              <a:t>: High-throughput modeling tool for </a:t>
            </a:r>
            <a:r>
              <a:rPr lang="en-US" b="0" i="0" dirty="0">
                <a:effectLst/>
                <a:latin typeface="Calibri" panose="020F0502020204030204" pitchFamily="34" charset="0"/>
              </a:rPr>
              <a:t>​creating CALPHAD databases</a:t>
            </a:r>
            <a:endParaRPr lang="en-US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3237F-C813-36C5-0A2A-E97092A2E6A1}"/>
              </a:ext>
            </a:extLst>
          </p:cNvPr>
          <p:cNvSpPr txBox="1"/>
          <p:nvPr/>
        </p:nvSpPr>
        <p:spPr>
          <a:xfrm>
            <a:off x="375534" y="5269194"/>
            <a:ext cx="76872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1" spc="-5" dirty="0">
                <a:effectLst/>
                <a:latin typeface="+mn-lt"/>
                <a:ea typeface="SimSun" panose="02010600030101010101" pitchFamily="2" charset="-122"/>
              </a:rPr>
              <a:t>Application and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5" dirty="0">
                <a:ea typeface="SimSun" panose="02010600030101010101" pitchFamily="2" charset="-122"/>
              </a:rPr>
              <a:t>Applying in building 9 refractory elements thermodynamic database (</a:t>
            </a:r>
            <a:r>
              <a:rPr lang="en-US" dirty="0"/>
              <a:t>Cr-Hf-Mo-Nb-Ta-</a:t>
            </a:r>
            <a:r>
              <a:rPr lang="en-US" dirty="0" err="1"/>
              <a:t>Ti</a:t>
            </a:r>
            <a:r>
              <a:rPr lang="en-US" dirty="0"/>
              <a:t>-V-W-Zr)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5" dirty="0">
                <a:ea typeface="SimSun" panose="02010600030101010101" pitchFamily="2" charset="-122"/>
              </a:rPr>
              <a:t>Demo with Hf-Mo system</a:t>
            </a:r>
            <a:endParaRPr lang="en-US" sz="1800" b="0" spc="-5" dirty="0">
              <a:effectLst/>
              <a:latin typeface="+mn-lt"/>
              <a:ea typeface="SimSun" panose="02010600030101010101" pitchFamily="2" charset="-122"/>
            </a:endParaRPr>
          </a:p>
        </p:txBody>
      </p:sp>
      <p:pic>
        <p:nvPicPr>
          <p:cNvPr id="12" name="Content Placeholder 4" descr="A picture containing text, screenshot, font, diagram&#10;&#10;Description automatically generated">
            <a:extLst>
              <a:ext uri="{FF2B5EF4-FFF2-40B4-BE49-F238E27FC236}">
                <a16:creationId xmlns:a16="http://schemas.microsoft.com/office/drawing/2014/main" id="{4FBFBCB7-C6C7-47D5-5464-36D8A63BD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085" y="148383"/>
            <a:ext cx="3771231" cy="656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63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D8F9-7788-C314-A3CA-6157BAAC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ESPEI Input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04419-C433-39E8-EE43-BD4B40EC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40261" cy="4351338"/>
          </a:xfrm>
        </p:spPr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Phases and CALPHAD models</a:t>
            </a:r>
          </a:p>
          <a:p>
            <a:endParaRPr lang="en-US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908EBA9-5513-7463-707B-A18415D3F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271" y="1667669"/>
            <a:ext cx="7256442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2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D8F9-7788-C314-A3CA-6157BAAC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ESPEI Input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04419-C433-39E8-EE43-BD4B40EC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31" y="1690688"/>
            <a:ext cx="10412393" cy="4351338"/>
          </a:xfrm>
        </p:spPr>
        <p:txBody>
          <a:bodyPr/>
          <a:lstStyle/>
          <a:p>
            <a:pPr algn="l"/>
            <a:r>
              <a:rPr lang="en-US" b="0" i="0" dirty="0">
                <a:effectLst/>
                <a:latin typeface="-apple-system"/>
              </a:rPr>
              <a:t>Non-equilibrium Thermochemical Data</a:t>
            </a:r>
          </a:p>
          <a:p>
            <a:pPr lvl="1"/>
            <a:r>
              <a:rPr lang="en-US" b="0" i="0" dirty="0">
                <a:effectLst/>
                <a:latin typeface="-apple-system"/>
              </a:rPr>
              <a:t>This can in principle be any thermodynamic quantity, but currently only </a:t>
            </a:r>
            <a:r>
              <a:rPr lang="en-US" dirty="0"/>
              <a:t>CPM*</a:t>
            </a:r>
            <a:r>
              <a:rPr lang="en-US" b="0" i="0" dirty="0">
                <a:effectLst/>
                <a:latin typeface="-apple-system"/>
              </a:rPr>
              <a:t>, </a:t>
            </a:r>
            <a:r>
              <a:rPr lang="en-US" dirty="0"/>
              <a:t>SM*</a:t>
            </a:r>
            <a:r>
              <a:rPr lang="en-US" b="0" i="0" dirty="0">
                <a:effectLst/>
                <a:latin typeface="-apple-system"/>
              </a:rPr>
              <a:t>, and </a:t>
            </a:r>
            <a:r>
              <a:rPr lang="en-US" dirty="0"/>
              <a:t>HM*</a:t>
            </a:r>
            <a:r>
              <a:rPr lang="en-US" b="0" i="0" dirty="0">
                <a:effectLst/>
                <a:latin typeface="-apple-system"/>
              </a:rPr>
              <a:t> (where </a:t>
            </a:r>
            <a:r>
              <a:rPr lang="en-US" dirty="0"/>
              <a:t>*</a:t>
            </a:r>
            <a:r>
              <a:rPr lang="en-US" b="0" i="0" dirty="0">
                <a:effectLst/>
                <a:latin typeface="-apple-system"/>
              </a:rPr>
              <a:t> is either nothing, </a:t>
            </a:r>
            <a:r>
              <a:rPr lang="en-US" dirty="0"/>
              <a:t>_MIX</a:t>
            </a:r>
            <a:r>
              <a:rPr lang="en-US" b="0" i="0" dirty="0">
                <a:effectLst/>
                <a:latin typeface="-apple-system"/>
              </a:rPr>
              <a:t> or </a:t>
            </a:r>
            <a:r>
              <a:rPr lang="en-US" dirty="0"/>
              <a:t>_FORM</a:t>
            </a:r>
            <a:r>
              <a:rPr lang="en-US" b="0" i="0" dirty="0">
                <a:effectLst/>
                <a:latin typeface="-apple-system"/>
              </a:rPr>
              <a:t>) are supported.</a:t>
            </a:r>
          </a:p>
          <a:p>
            <a:r>
              <a:rPr lang="en-US" b="0" i="0" dirty="0">
                <a:effectLst/>
                <a:latin typeface="-apple-system"/>
              </a:rPr>
              <a:t>Equilibrium Thermochemical Data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-apple-system"/>
              </a:rPr>
              <a:t>Activity data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-apple-system"/>
              </a:rPr>
              <a:t>Enthalpy of formation data in region with two or more phases in equilibrium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-apple-system"/>
              </a:rPr>
              <a:t>Enthalpy of formation for a phase with multiple sublattice, e.g. the </a:t>
            </a:r>
            <a:r>
              <a:rPr lang="el-GR" b="0" i="0" dirty="0">
                <a:effectLst/>
                <a:latin typeface="-apple-system"/>
              </a:rPr>
              <a:t>σ </a:t>
            </a:r>
            <a:r>
              <a:rPr lang="en-US" b="0" i="0" dirty="0">
                <a:effectLst/>
                <a:latin typeface="-apple-system"/>
              </a:rPr>
              <a:t>phase</a:t>
            </a:r>
          </a:p>
          <a:p>
            <a:endParaRPr lang="en-US" dirty="0"/>
          </a:p>
        </p:txBody>
      </p:sp>
      <p:pic>
        <p:nvPicPr>
          <p:cNvPr id="10" name="Picture 9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D77268C9-1442-B991-BA9A-0D4E63E35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280" y="1504709"/>
            <a:ext cx="7451451" cy="453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2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D8F9-7788-C314-A3CA-6157BAAC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ESPEI Input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04419-C433-39E8-EE43-BD4B40EC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31" y="1690688"/>
            <a:ext cx="10910104" cy="4351338"/>
          </a:xfrm>
        </p:spPr>
        <p:txBody>
          <a:bodyPr/>
          <a:lstStyle/>
          <a:p>
            <a:pPr algn="l"/>
            <a:r>
              <a:rPr lang="en-US" b="0" i="0" dirty="0">
                <a:effectLst/>
                <a:latin typeface="-apple-system"/>
              </a:rPr>
              <a:t>Phase Diagram data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ESPEI can consider multi-component phase diagram data with an arbitrary number of phases in equilibrium. Phase diagram data JSON datasets are distinguished by using </a:t>
            </a:r>
            <a:r>
              <a:rPr lang="en-US" dirty="0"/>
              <a:t>"output": "ZPF”</a:t>
            </a:r>
            <a:r>
              <a:rPr lang="en-US" dirty="0">
                <a:latin typeface="-apple-system"/>
              </a:rPr>
              <a:t>.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Each entry in the JSON </a:t>
            </a:r>
            <a:r>
              <a:rPr lang="en-US" dirty="0"/>
              <a:t>values</a:t>
            </a:r>
            <a:r>
              <a:rPr lang="en-US" b="0" i="0" dirty="0">
                <a:effectLst/>
                <a:latin typeface="-apple-system"/>
              </a:rPr>
              <a:t> corresponds to a </a:t>
            </a:r>
            <a:r>
              <a:rPr lang="en-US" b="0" dirty="0">
                <a:effectLst/>
                <a:latin typeface="-apple-system"/>
              </a:rPr>
              <a:t>phase region </a:t>
            </a:r>
            <a:r>
              <a:rPr lang="en-US" b="0" i="0" dirty="0">
                <a:effectLst/>
                <a:latin typeface="-apple-system"/>
              </a:rPr>
              <a:t>where one or more phases are participating in equilibrium under the given temperature and pressure conditions.</a:t>
            </a:r>
          </a:p>
        </p:txBody>
      </p:sp>
    </p:spTree>
    <p:extLst>
      <p:ext uri="{BB962C8B-B14F-4D97-AF65-F5344CB8AC3E}">
        <p14:creationId xmlns:p14="http://schemas.microsoft.com/office/powerpoint/2010/main" val="119670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A32D-EE7A-377A-CFAC-B3B5A5F98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Hf-Mo phase boundary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7A9F9-1276-4670-7CBD-26AE4DD54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Webplotdigitizer</a:t>
            </a:r>
            <a:r>
              <a:rPr lang="en-US" dirty="0"/>
              <a:t> get the experimental data in template</a:t>
            </a:r>
          </a:p>
          <a:p>
            <a:r>
              <a:rPr lang="en-US" dirty="0" err="1"/>
              <a:t>ZPF_to_JSON.py</a:t>
            </a:r>
            <a:r>
              <a:rPr lang="en-US" dirty="0"/>
              <a:t> convert ZPF data to ESPEI readable JSON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ECA44-DDBB-F48D-ED31-A599B844A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84" y="3053296"/>
            <a:ext cx="3120516" cy="28857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9822B9-EBE0-2BA2-5915-2B17232F98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11"/>
          <a:stretch/>
        </p:blipFill>
        <p:spPr>
          <a:xfrm>
            <a:off x="9300315" y="2780458"/>
            <a:ext cx="2720701" cy="39745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C97C441-CC69-13FA-7481-53E2AEAABD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915" y="3532747"/>
            <a:ext cx="5520170" cy="4685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713DC50-55AE-EE98-8F89-4C13CBA47B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16" y="4494317"/>
            <a:ext cx="3735416" cy="118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7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7C9A-293D-16D4-877D-29663B63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Units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40BAB-8163-4296-DD8F-D55FD1122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Energies are in J/mol-atom (and the derivatives follow)</a:t>
            </a:r>
          </a:p>
          <a:p>
            <a:r>
              <a:rPr lang="en-US" b="0" i="0" dirty="0">
                <a:effectLst/>
                <a:latin typeface="-apple-system"/>
              </a:rPr>
              <a:t>All compositions are mole fractions</a:t>
            </a:r>
          </a:p>
          <a:p>
            <a:r>
              <a:rPr lang="en-US" b="0" i="0" dirty="0">
                <a:effectLst/>
                <a:latin typeface="-apple-system"/>
              </a:rPr>
              <a:t>Temperatures are in Kelvin</a:t>
            </a:r>
          </a:p>
          <a:p>
            <a:r>
              <a:rPr lang="en-US" b="0" i="0" dirty="0">
                <a:effectLst/>
                <a:latin typeface="-apple-system"/>
              </a:rPr>
              <a:t>Pressures in Pascal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15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927C-B3E9-A419-CD84-BB898C74B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Pysipfenn</a:t>
            </a:r>
            <a:r>
              <a:rPr lang="en-US" dirty="0"/>
              <a:t> result to ESPEI JSON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F1C9B8-A9EE-B431-442D-E1FDB743C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80" y="1968983"/>
            <a:ext cx="5017816" cy="2850547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F3D7C08-5B4D-E46E-A5F2-8F32FB98C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058" y="2038470"/>
            <a:ext cx="6149050" cy="2282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0641D-F402-4049-3774-9148DEF48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320" y="4819530"/>
            <a:ext cx="7772400" cy="574192"/>
          </a:xfrm>
          <a:prstGeom prst="rect">
            <a:avLst/>
          </a:prstGeom>
        </p:spPr>
      </p:pic>
      <p:pic>
        <p:nvPicPr>
          <p:cNvPr id="11" name="Picture 10" descr="A screen shot of a computer&#10;&#10;Description automatically generated">
            <a:extLst>
              <a:ext uri="{FF2B5EF4-FFF2-40B4-BE49-F238E27FC236}">
                <a16:creationId xmlns:a16="http://schemas.microsoft.com/office/drawing/2014/main" id="{851A78E8-4721-1389-318B-EE7DDD822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5100" y="801346"/>
            <a:ext cx="356870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CB10-9BB1-2018-D147-27928CCE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DFTTK </a:t>
            </a:r>
            <a:r>
              <a:rPr lang="en-US" err="1"/>
              <a:t>Mongodb</a:t>
            </a:r>
            <a:r>
              <a:rPr lang="en-US"/>
              <a:t> to </a:t>
            </a:r>
            <a:r>
              <a:rPr lang="en-US" err="1"/>
              <a:t>espei</a:t>
            </a:r>
            <a:r>
              <a:rPr lang="en-US"/>
              <a:t>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EF60E-2603-4DF9-153D-4FE482E1F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54871" cy="1603375"/>
          </a:xfrm>
        </p:spPr>
        <p:txBody>
          <a:bodyPr/>
          <a:lstStyle/>
          <a:p>
            <a:r>
              <a:rPr lang="en-US" dirty="0"/>
              <a:t>Get the tags information from METADATAS after submitting DFTTK job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C4AE5-DBE6-28E5-C4A8-E9AF7B110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398" y="2437965"/>
            <a:ext cx="7772400" cy="834545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235E32D-698E-8FFD-8F52-934874F49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738" y="3563937"/>
            <a:ext cx="2806895" cy="32587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238FFB-149B-E8A3-E844-D9A0D97EEB24}"/>
              </a:ext>
            </a:extLst>
          </p:cNvPr>
          <p:cNvSpPr txBox="1"/>
          <p:nvPr/>
        </p:nvSpPr>
        <p:spPr>
          <a:xfrm>
            <a:off x="838199" y="3563937"/>
            <a:ext cx="647700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DFTTK_to_ESPEI_JSON.py</a:t>
            </a:r>
            <a:r>
              <a:rPr lang="en-US" sz="28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Connect with </a:t>
            </a:r>
            <a:r>
              <a:rPr lang="en-US" sz="2400" dirty="0" err="1"/>
              <a:t>dfttk</a:t>
            </a:r>
            <a:r>
              <a:rPr lang="en-US" sz="2400" dirty="0"/>
              <a:t> MongoDB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Target the systems with tags information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Convert EOS fitting energy to formation enthalpy in ESPEI JSON format</a:t>
            </a:r>
          </a:p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4D81C7-71B7-26CD-1DDC-772B8ABA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DEB4-8F58-9642-820F-950529EE25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00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FA05-C63E-CB51-EE72-63273AEF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Hf-Mo LAVES_C15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967F5-A25A-3C10-C6AB-4180E6C4F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78" y="1471045"/>
            <a:ext cx="6964683" cy="1054440"/>
          </a:xfrm>
        </p:spPr>
        <p:txBody>
          <a:bodyPr>
            <a:normAutofit fontScale="92500"/>
          </a:bodyPr>
          <a:lstStyle/>
          <a:p>
            <a:r>
              <a:rPr lang="en-US" sz="2600" dirty="0"/>
              <a:t>Sublattice model (</a:t>
            </a:r>
            <a:r>
              <a:rPr lang="en-US" sz="2600" dirty="0" err="1"/>
              <a:t>Hf,Mo</a:t>
            </a:r>
            <a:r>
              <a:rPr lang="en-US" sz="2600" dirty="0"/>
              <a:t>)</a:t>
            </a:r>
            <a:r>
              <a:rPr lang="en-US" sz="2600" baseline="-25000" dirty="0"/>
              <a:t>1</a:t>
            </a:r>
            <a:r>
              <a:rPr lang="en-US" sz="2600" dirty="0"/>
              <a:t>(</a:t>
            </a:r>
            <a:r>
              <a:rPr lang="en-US" sz="2600" dirty="0" err="1"/>
              <a:t>Hf,Mo</a:t>
            </a:r>
            <a:r>
              <a:rPr lang="en-US" sz="2600" dirty="0"/>
              <a:t>)</a:t>
            </a:r>
            <a:r>
              <a:rPr lang="en-US" sz="2600" baseline="-25000" dirty="0"/>
              <a:t>2</a:t>
            </a:r>
          </a:p>
          <a:p>
            <a:r>
              <a:rPr lang="en-US" sz="2600" dirty="0"/>
              <a:t>2 dilute structures of the most stable endmembers</a:t>
            </a:r>
          </a:p>
          <a:p>
            <a:endParaRPr lang="en-US" sz="24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D5186F4-1077-BDE1-5031-DD08DADBE6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170656"/>
              </p:ext>
            </p:extLst>
          </p:nvPr>
        </p:nvGraphicFramePr>
        <p:xfrm>
          <a:off x="838198" y="2753064"/>
          <a:ext cx="2964448" cy="29510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2224">
                  <a:extLst>
                    <a:ext uri="{9D8B030D-6E8A-4147-A177-3AD203B41FA5}">
                      <a16:colId xmlns:a16="http://schemas.microsoft.com/office/drawing/2014/main" val="3959338277"/>
                    </a:ext>
                  </a:extLst>
                </a:gridCol>
                <a:gridCol w="1482224">
                  <a:extLst>
                    <a:ext uri="{9D8B030D-6E8A-4147-A177-3AD203B41FA5}">
                      <a16:colId xmlns:a16="http://schemas.microsoft.com/office/drawing/2014/main" val="301610129"/>
                    </a:ext>
                  </a:extLst>
                </a:gridCol>
              </a:tblGrid>
              <a:tr h="797345"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Lattice occupation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06205937"/>
                  </a:ext>
                </a:extLst>
              </a:tr>
              <a:tr h="71088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4405555"/>
                  </a:ext>
                </a:extLst>
              </a:tr>
              <a:tr h="72140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Hf </a:t>
                      </a:r>
                    </a:p>
                    <a:p>
                      <a:pPr algn="ctr"/>
                      <a:r>
                        <a:rPr lang="en-US" sz="1600"/>
                        <a:t>16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Hf, Mo</a:t>
                      </a:r>
                    </a:p>
                    <a:p>
                      <a:pPr algn="ctr"/>
                      <a:r>
                        <a:rPr lang="en-US" sz="1600"/>
                        <a:t>1, 31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1724197"/>
                  </a:ext>
                </a:extLst>
              </a:tr>
              <a:tr h="72140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Hf, Mo</a:t>
                      </a:r>
                    </a:p>
                    <a:p>
                      <a:pPr algn="ctr"/>
                      <a:r>
                        <a:rPr lang="en-US" sz="1600"/>
                        <a:t>15, 1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Mo</a:t>
                      </a:r>
                    </a:p>
                    <a:p>
                      <a:pPr algn="ctr"/>
                      <a:r>
                        <a:rPr lang="en-US" sz="1600"/>
                        <a:t>32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084406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28A4564-E6F9-0E4B-373E-09C8CE24C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235" y="2549663"/>
            <a:ext cx="4605703" cy="356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55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F4B7-7434-953D-A7E3-26AF5B1E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Hf-Mo LAVES_C14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4C454E6-3B47-2369-27A6-16229EF0E6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63194"/>
              </p:ext>
            </p:extLst>
          </p:nvPr>
        </p:nvGraphicFramePr>
        <p:xfrm>
          <a:off x="724479" y="2654663"/>
          <a:ext cx="3525720" cy="3110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240">
                  <a:extLst>
                    <a:ext uri="{9D8B030D-6E8A-4147-A177-3AD203B41FA5}">
                      <a16:colId xmlns:a16="http://schemas.microsoft.com/office/drawing/2014/main" val="3959338277"/>
                    </a:ext>
                  </a:extLst>
                </a:gridCol>
                <a:gridCol w="1175240">
                  <a:extLst>
                    <a:ext uri="{9D8B030D-6E8A-4147-A177-3AD203B41FA5}">
                      <a16:colId xmlns:a16="http://schemas.microsoft.com/office/drawing/2014/main" val="301610129"/>
                    </a:ext>
                  </a:extLst>
                </a:gridCol>
                <a:gridCol w="1175240">
                  <a:extLst>
                    <a:ext uri="{9D8B030D-6E8A-4147-A177-3AD203B41FA5}">
                      <a16:colId xmlns:a16="http://schemas.microsoft.com/office/drawing/2014/main" val="714356516"/>
                    </a:ext>
                  </a:extLst>
                </a:gridCol>
              </a:tblGrid>
              <a:tr h="434226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+mn-lt"/>
                        </a:rPr>
                        <a:t>Lattice occupation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6205937"/>
                  </a:ext>
                </a:extLst>
              </a:tr>
              <a:tr h="428277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+mn-lt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+mn-lt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4405555"/>
                  </a:ext>
                </a:extLst>
              </a:tr>
              <a:tr h="74948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800">
                          <a:latin typeface="+mn-lt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err="1">
                          <a:latin typeface="+mn-lt"/>
                        </a:rPr>
                        <a:t>Mo,Hf</a:t>
                      </a:r>
                      <a:endParaRPr lang="en-US" sz="1800">
                        <a:latin typeface="+mn-lt"/>
                      </a:endParaRPr>
                    </a:p>
                    <a:p>
                      <a:pPr algn="ctr"/>
                      <a:r>
                        <a:rPr lang="en-US" sz="1800">
                          <a:latin typeface="+mn-lt"/>
                        </a:rPr>
                        <a:t>7,1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Mo</a:t>
                      </a:r>
                    </a:p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7641709"/>
                  </a:ext>
                </a:extLst>
              </a:tr>
              <a:tr h="74948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+mn-lt"/>
                        </a:rPr>
                        <a:t>Mo</a:t>
                      </a:r>
                    </a:p>
                    <a:p>
                      <a:pPr algn="ctr"/>
                      <a:r>
                        <a:rPr lang="en-US" sz="180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+mn-lt"/>
                        </a:rPr>
                        <a:t>Mo,Hf</a:t>
                      </a:r>
                      <a:endParaRPr lang="en-US" sz="1800" dirty="0">
                        <a:latin typeface="+mn-lt"/>
                      </a:endParaRPr>
                    </a:p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23,1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4964049"/>
                  </a:ext>
                </a:extLst>
              </a:tr>
              <a:tr h="74948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+mn-lt"/>
                        </a:rPr>
                        <a:t>Hf,Mo</a:t>
                      </a:r>
                      <a:endParaRPr lang="en-US" sz="1800" dirty="0">
                        <a:latin typeface="+mn-lt"/>
                      </a:endParaRPr>
                    </a:p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15,1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Mo</a:t>
                      </a:r>
                    </a:p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Mo</a:t>
                      </a:r>
                    </a:p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862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40058A-31C2-EFCB-21AC-2914C0997F5B}"/>
              </a:ext>
            </a:extLst>
          </p:cNvPr>
          <p:cNvSpPr txBox="1"/>
          <p:nvPr/>
        </p:nvSpPr>
        <p:spPr>
          <a:xfrm>
            <a:off x="445805" y="1465856"/>
            <a:ext cx="93933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Sublattice model (</a:t>
            </a:r>
            <a:r>
              <a:rPr lang="en-US" sz="2400" dirty="0" err="1"/>
              <a:t>Hf,Mo</a:t>
            </a:r>
            <a:r>
              <a:rPr lang="en-US" sz="2400" dirty="0"/>
              <a:t>)</a:t>
            </a:r>
            <a:r>
              <a:rPr lang="en-US" sz="2400" baseline="-25000" dirty="0"/>
              <a:t>2</a:t>
            </a:r>
            <a:r>
              <a:rPr lang="en-US" sz="2400" dirty="0"/>
              <a:t>(</a:t>
            </a:r>
            <a:r>
              <a:rPr lang="en-US" sz="2400" dirty="0" err="1"/>
              <a:t>Hf,Mo</a:t>
            </a:r>
            <a:r>
              <a:rPr lang="en-US" sz="2400" dirty="0"/>
              <a:t>)</a:t>
            </a:r>
            <a:r>
              <a:rPr lang="en-US" sz="2400" baseline="-25000" dirty="0"/>
              <a:t>1</a:t>
            </a:r>
            <a:r>
              <a:rPr lang="en-US" sz="2400" dirty="0"/>
              <a:t>(</a:t>
            </a:r>
            <a:r>
              <a:rPr lang="en-US" sz="2400" dirty="0" err="1"/>
              <a:t>Hf,Mo</a:t>
            </a:r>
            <a:r>
              <a:rPr lang="en-US" sz="2400" dirty="0"/>
              <a:t>)</a:t>
            </a:r>
            <a:r>
              <a:rPr lang="en-US" sz="2400" baseline="-25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3 dilute structures of the most stable endmembers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0E0C9D-B10C-7975-7CF9-213CC0581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630" y="2515326"/>
            <a:ext cx="4950330" cy="370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F4B7-7434-953D-A7E3-26AF5B1E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Hf-Mo LAVES_C36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4C454E6-3B47-2369-27A6-16229EF0E6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27182"/>
              </p:ext>
            </p:extLst>
          </p:nvPr>
        </p:nvGraphicFramePr>
        <p:xfrm>
          <a:off x="528251" y="2476637"/>
          <a:ext cx="4025385" cy="3601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5077">
                  <a:extLst>
                    <a:ext uri="{9D8B030D-6E8A-4147-A177-3AD203B41FA5}">
                      <a16:colId xmlns:a16="http://schemas.microsoft.com/office/drawing/2014/main" val="3959338277"/>
                    </a:ext>
                  </a:extLst>
                </a:gridCol>
                <a:gridCol w="805077">
                  <a:extLst>
                    <a:ext uri="{9D8B030D-6E8A-4147-A177-3AD203B41FA5}">
                      <a16:colId xmlns:a16="http://schemas.microsoft.com/office/drawing/2014/main" val="301610129"/>
                    </a:ext>
                  </a:extLst>
                </a:gridCol>
                <a:gridCol w="805077">
                  <a:extLst>
                    <a:ext uri="{9D8B030D-6E8A-4147-A177-3AD203B41FA5}">
                      <a16:colId xmlns:a16="http://schemas.microsoft.com/office/drawing/2014/main" val="515521118"/>
                    </a:ext>
                  </a:extLst>
                </a:gridCol>
                <a:gridCol w="805077">
                  <a:extLst>
                    <a:ext uri="{9D8B030D-6E8A-4147-A177-3AD203B41FA5}">
                      <a16:colId xmlns:a16="http://schemas.microsoft.com/office/drawing/2014/main" val="2022610536"/>
                    </a:ext>
                  </a:extLst>
                </a:gridCol>
                <a:gridCol w="805077">
                  <a:extLst>
                    <a:ext uri="{9D8B030D-6E8A-4147-A177-3AD203B41FA5}">
                      <a16:colId xmlns:a16="http://schemas.microsoft.com/office/drawing/2014/main" val="1580771228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Lattice occupation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6205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4405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60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60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err="1">
                          <a:latin typeface="+mn-lt"/>
                        </a:rPr>
                        <a:t>Mo,Hf</a:t>
                      </a:r>
                      <a:endParaRPr lang="en-US" sz="1600"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7,1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152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60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60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err="1">
                          <a:latin typeface="+mn-lt"/>
                        </a:rPr>
                        <a:t>Mo,Hf</a:t>
                      </a:r>
                      <a:endParaRPr lang="en-US" sz="1600"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11, 1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3801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60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err="1">
                          <a:latin typeface="+mn-lt"/>
                        </a:rPr>
                        <a:t>Mo,Hf</a:t>
                      </a:r>
                      <a:endParaRPr lang="en-US" sz="1600"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11, 1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356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lt"/>
                        </a:rPr>
                        <a:t>Hf,Mo</a:t>
                      </a:r>
                      <a:endParaRPr lang="en-US" sz="1600" dirty="0">
                        <a:latin typeface="+mn-lt"/>
                      </a:endParaRP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7,1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+mn-lt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950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Hf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>
                          <a:latin typeface="+mn-lt"/>
                        </a:rPr>
                        <a:t>Hf,Mo</a:t>
                      </a:r>
                      <a:endParaRPr lang="en-US" sz="1600">
                        <a:latin typeface="+mn-lt"/>
                      </a:endParaRPr>
                    </a:p>
                    <a:p>
                      <a:pPr algn="ctr"/>
                      <a:r>
                        <a:rPr lang="en-US" sz="1600">
                          <a:latin typeface="+mn-lt"/>
                        </a:rPr>
                        <a:t>7,1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Mo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30081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40058A-31C2-EFCB-21AC-2914C0997F5B}"/>
              </a:ext>
            </a:extLst>
          </p:cNvPr>
          <p:cNvSpPr txBox="1"/>
          <p:nvPr/>
        </p:nvSpPr>
        <p:spPr>
          <a:xfrm>
            <a:off x="528251" y="1446017"/>
            <a:ext cx="11421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Sublattice model (</a:t>
            </a:r>
            <a:r>
              <a:rPr lang="en-US" sz="2400" dirty="0" err="1"/>
              <a:t>Hf,Mo</a:t>
            </a:r>
            <a:r>
              <a:rPr lang="en-US" sz="2400" dirty="0"/>
              <a:t>)</a:t>
            </a:r>
            <a:r>
              <a:rPr lang="en-US" sz="2400" baseline="-25000" dirty="0"/>
              <a:t>2</a:t>
            </a:r>
            <a:r>
              <a:rPr lang="en-US" sz="2400" dirty="0"/>
              <a:t>(</a:t>
            </a:r>
            <a:r>
              <a:rPr lang="en-US" sz="2400" dirty="0" err="1"/>
              <a:t>Hf,Mo</a:t>
            </a:r>
            <a:r>
              <a:rPr lang="en-US" sz="2400" dirty="0"/>
              <a:t>)</a:t>
            </a:r>
            <a:r>
              <a:rPr lang="en-US" sz="2400" baseline="-25000" dirty="0"/>
              <a:t>2</a:t>
            </a:r>
            <a:r>
              <a:rPr lang="en-US" sz="2400" dirty="0"/>
              <a:t>(</a:t>
            </a:r>
            <a:r>
              <a:rPr lang="en-US" sz="2400" dirty="0" err="1"/>
              <a:t>Hf,Mo</a:t>
            </a:r>
            <a:r>
              <a:rPr lang="en-US" sz="2400" dirty="0"/>
              <a:t>)</a:t>
            </a:r>
            <a:r>
              <a:rPr lang="en-US" sz="2400" baseline="-25000" dirty="0"/>
              <a:t>2</a:t>
            </a:r>
            <a:r>
              <a:rPr lang="en-US" sz="2400" dirty="0"/>
              <a:t>(</a:t>
            </a:r>
            <a:r>
              <a:rPr lang="en-US" sz="2400" dirty="0" err="1"/>
              <a:t>Hf,Mo</a:t>
            </a:r>
            <a:r>
              <a:rPr lang="en-US" sz="2400" dirty="0"/>
              <a:t>)</a:t>
            </a:r>
            <a:r>
              <a:rPr lang="en-US" sz="2400" baseline="-25000" dirty="0"/>
              <a:t>3</a:t>
            </a:r>
            <a:r>
              <a:rPr lang="en-US" sz="2400" dirty="0"/>
              <a:t>(</a:t>
            </a:r>
            <a:r>
              <a:rPr lang="en-US" sz="2400" dirty="0" err="1"/>
              <a:t>Hf,Mo</a:t>
            </a:r>
            <a:r>
              <a:rPr lang="en-US" sz="2400" dirty="0"/>
              <a:t>)</a:t>
            </a:r>
            <a:r>
              <a:rPr lang="en-US" sz="2400" baseline="-25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5 dilute structures of the most stable endmembers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5307AD-B999-EF4D-E6ED-213497EB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852" y="2352177"/>
            <a:ext cx="4830462" cy="361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0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C84A-DDE0-0F6E-F065-73F8231B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data for ESPEI parameter selection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96EF-CEA3-888C-0C03-4CB38869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5765-A3E5-494C-8F99-0247005E0447}" type="slidenum">
              <a:rPr lang="en-US" smtClean="0"/>
              <a:t>19</a:t>
            </a:fld>
            <a:endParaRPr lang="en-US"/>
          </a:p>
        </p:txBody>
      </p:sp>
      <p:pic>
        <p:nvPicPr>
          <p:cNvPr id="5" name="Content Placeholder 4" descr="A screen shot of a graph&#10;&#10;Description automatically generated with low confidence">
            <a:extLst>
              <a:ext uri="{FF2B5EF4-FFF2-40B4-BE49-F238E27FC236}">
                <a16:creationId xmlns:a16="http://schemas.microsoft.com/office/drawing/2014/main" id="{71D07AF4-36E4-FE22-C73A-1386968B2D8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896" y="1686677"/>
            <a:ext cx="3401568" cy="2560320"/>
          </a:xfrm>
          <a:prstGeom prst="rect">
            <a:avLst/>
          </a:prstGeom>
        </p:spPr>
      </p:pic>
      <p:pic>
        <p:nvPicPr>
          <p:cNvPr id="9" name="Picture 8" descr="A screen shot of a graph&#10;&#10;Description automatically generated">
            <a:extLst>
              <a:ext uri="{FF2B5EF4-FFF2-40B4-BE49-F238E27FC236}">
                <a16:creationId xmlns:a16="http://schemas.microsoft.com/office/drawing/2014/main" id="{CAB4BB20-1C08-351C-FACF-D34BABFD4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96" y="4296411"/>
            <a:ext cx="3423459" cy="2560320"/>
          </a:xfrm>
          <a:prstGeom prst="rect">
            <a:avLst/>
          </a:prstGeom>
        </p:spPr>
      </p:pic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ABF22B2F-1E1C-B496-3310-6174B058D7B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402" y="1713389"/>
            <a:ext cx="3401568" cy="2560320"/>
          </a:xfrm>
          <a:prstGeom prst="rect">
            <a:avLst/>
          </a:prstGeom>
        </p:spPr>
      </p:pic>
      <p:pic>
        <p:nvPicPr>
          <p:cNvPr id="13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EEA34329-31D3-37D3-FC19-311C725794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402" y="4297680"/>
            <a:ext cx="3423458" cy="2560320"/>
          </a:xfrm>
          <a:prstGeom prst="rect">
            <a:avLst/>
          </a:prstGeom>
        </p:spPr>
      </p:pic>
      <p:pic>
        <p:nvPicPr>
          <p:cNvPr id="15" name="Picture 14" descr="A diagram of a structure&#10;&#10;Description automatically generated">
            <a:extLst>
              <a:ext uri="{FF2B5EF4-FFF2-40B4-BE49-F238E27FC236}">
                <a16:creationId xmlns:a16="http://schemas.microsoft.com/office/drawing/2014/main" id="{BA769A73-1C93-EF3E-FEA4-66C776C565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333" y="2131334"/>
            <a:ext cx="4444673" cy="30359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20E0A9-3E78-43E1-482A-F57C25BB3E56}"/>
              </a:ext>
            </a:extLst>
          </p:cNvPr>
          <p:cNvSpPr txBox="1"/>
          <p:nvPr/>
        </p:nvSpPr>
        <p:spPr>
          <a:xfrm>
            <a:off x="8850086" y="5473290"/>
            <a:ext cx="283401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rtl="0" fontAlgn="base"/>
            <a:r>
              <a:rPr lang="en-US" sz="18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Visualize the HM surface of LAVES_36 phase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in 2-D</a:t>
            </a:r>
            <a:endParaRPr lang="en-US" sz="18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890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4A6A-76F3-F2D3-F6B9-012EFDEC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9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Phase diagram generation by ESEPI Parameter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A4B53-453F-9859-8CAF-48BA1BD8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5765-A3E5-494C-8F99-0247005E0447}" type="slidenum">
              <a:rPr lang="en-US" smtClean="0"/>
              <a:t>20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85C008-C8B7-D376-106D-2E5B2628923F}"/>
              </a:ext>
            </a:extLst>
          </p:cNvPr>
          <p:cNvSpPr txBox="1"/>
          <p:nvPr/>
        </p:nvSpPr>
        <p:spPr>
          <a:xfrm>
            <a:off x="6375401" y="2387373"/>
            <a:ext cx="5740400" cy="2554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rtl="0" fontAlgn="base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First-principles + machine learning</a:t>
            </a:r>
          </a:p>
          <a:p>
            <a:pPr rtl="0" fontAlgn="base"/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rtl="0" fontAlgn="base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nput data of </a:t>
            </a: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</a:rPr>
              <a:t>F</a:t>
            </a:r>
            <a:r>
              <a:rPr lang="en-US" sz="200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ormation_H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71500" indent="-571500" rtl="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BCC and HCP: 2 endmembers+ 3 SQS + 4 dilute</a:t>
            </a: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C15: 4 endmembers+ 4 dilute</a:t>
            </a: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C14: 6 endmembers + 6 dilute</a:t>
            </a:r>
          </a:p>
          <a:p>
            <a:pPr marL="571500" indent="-571500" rtl="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C36: 32 endmembers+ 10 dilute</a:t>
            </a:r>
            <a:endParaRPr lang="en-US" sz="20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571500" indent="-571500" rtl="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Liquid: No interaction parameter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4F85AA-304D-0DDB-8343-A8263496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34" y="1825625"/>
            <a:ext cx="5740400" cy="3898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9D0540-8325-A7C7-E691-AAE35D7B4DE5}"/>
              </a:ext>
            </a:extLst>
          </p:cNvPr>
          <p:cNvSpPr txBox="1"/>
          <p:nvPr/>
        </p:nvSpPr>
        <p:spPr>
          <a:xfrm>
            <a:off x="6375400" y="5464468"/>
            <a:ext cx="4978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66 parameters in the generated TDB</a:t>
            </a:r>
          </a:p>
        </p:txBody>
      </p:sp>
    </p:spTree>
    <p:extLst>
      <p:ext uri="{BB962C8B-B14F-4D97-AF65-F5344CB8AC3E}">
        <p14:creationId xmlns:p14="http://schemas.microsoft.com/office/powerpoint/2010/main" val="2990986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7ADA-A0B8-56B0-BA8D-E115875F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ESPEI MCMC optimization </a:t>
            </a:r>
          </a:p>
        </p:txBody>
      </p:sp>
      <p:pic>
        <p:nvPicPr>
          <p:cNvPr id="6" name="Content Placeholder 5" descr="A mathematical equation with a circle and a circle with a circle and a circle with a circle with a circle with a circle with a circle with a circle with a circle with a circle with a circle&#10;&#10;Description automatically generated">
            <a:extLst>
              <a:ext uri="{FF2B5EF4-FFF2-40B4-BE49-F238E27FC236}">
                <a16:creationId xmlns:a16="http://schemas.microsoft.com/office/drawing/2014/main" id="{9C6FB751-3214-E866-215D-8677E4F0F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854" y="2332574"/>
            <a:ext cx="3048000" cy="1003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8BE9D-36F9-15FC-55BD-678B3788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5765-A3E5-494C-8F99-0247005E0447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B5F57-A9E7-E64A-0423-1B9B9C030804}"/>
              </a:ext>
            </a:extLst>
          </p:cNvPr>
          <p:cNvSpPr txBox="1"/>
          <p:nvPr/>
        </p:nvSpPr>
        <p:spPr>
          <a:xfrm>
            <a:off x="567159" y="3522126"/>
            <a:ext cx="114473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osterior probability :  p(</a:t>
            </a:r>
            <a:r>
              <a:rPr lang="el-GR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θ|</a:t>
            </a:r>
            <a:r>
              <a:rPr lang="en-US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D),  of the model parameters, </a:t>
            </a:r>
            <a:r>
              <a:rPr lang="el-GR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θ, </a:t>
            </a:r>
            <a:r>
              <a:rPr lang="en-US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conditioned on the data, 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prior:  p(</a:t>
            </a:r>
            <a:r>
              <a:rPr lang="el-GR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θ), </a:t>
            </a:r>
            <a:r>
              <a:rPr lang="en-US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domain knowledge of the modeler in the probability distribution of each parameter.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likelihood: p(D|</a:t>
            </a:r>
            <a:r>
              <a:rPr lang="el-GR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θ), </a:t>
            </a:r>
            <a:r>
              <a:rPr lang="en-US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probability that the data are described by a set of parameters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evidence : p(D), is the probability of the data marginalized over the possible parameters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94406-C887-C790-AC97-7C69B1DFEC2A}"/>
              </a:ext>
            </a:extLst>
          </p:cNvPr>
          <p:cNvSpPr txBox="1"/>
          <p:nvPr/>
        </p:nvSpPr>
        <p:spPr>
          <a:xfrm>
            <a:off x="567159" y="1685450"/>
            <a:ext cx="4709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Optimizing model parameters by Bayes theorem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546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DB17-6A72-930E-541E-B6E27E96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Phase diagram optimization by ESEPI MCMC</a:t>
            </a:r>
            <a:r>
              <a:rPr lang="en-US" dirty="0"/>
              <a:t> </a:t>
            </a:r>
          </a:p>
        </p:txBody>
      </p:sp>
      <p:pic>
        <p:nvPicPr>
          <p:cNvPr id="6" name="Content Placeholder 5" descr="A screen shot of a green and yellow pattern&#10;&#10;Description automatically generated">
            <a:extLst>
              <a:ext uri="{FF2B5EF4-FFF2-40B4-BE49-F238E27FC236}">
                <a16:creationId xmlns:a16="http://schemas.microsoft.com/office/drawing/2014/main" id="{28F6F45F-008E-1697-B6FE-51E9FF50E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63" y="1655125"/>
            <a:ext cx="5740400" cy="3911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7B111-7CC5-5549-ACD1-47DAD32F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5765-A3E5-494C-8F99-0247005E0447}" type="slidenum">
              <a:rPr lang="en-US" smtClean="0"/>
              <a:t>22</a:t>
            </a:fld>
            <a:endParaRPr lang="en-US"/>
          </a:p>
        </p:txBody>
      </p:sp>
      <p:pic>
        <p:nvPicPr>
          <p:cNvPr id="9" name="Picture 8" descr="A white background with colorful lines&#10;&#10;Description automatically generated">
            <a:extLst>
              <a:ext uri="{FF2B5EF4-FFF2-40B4-BE49-F238E27FC236}">
                <a16:creationId xmlns:a16="http://schemas.microsoft.com/office/drawing/2014/main" id="{2F31241D-6E81-7329-4524-EF489BE50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832" y="1655125"/>
            <a:ext cx="4817599" cy="33594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EDDD32-F698-A650-BF01-FEFACC236F88}"/>
              </a:ext>
            </a:extLst>
          </p:cNvPr>
          <p:cNvSpPr txBox="1"/>
          <p:nvPr/>
        </p:nvSpPr>
        <p:spPr>
          <a:xfrm>
            <a:off x="6971086" y="5202875"/>
            <a:ext cx="438271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Convergence of the posterior log probabilities from the MCMC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Converge after 100 iterations.</a:t>
            </a:r>
          </a:p>
        </p:txBody>
      </p:sp>
    </p:spTree>
    <p:extLst>
      <p:ext uri="{BB962C8B-B14F-4D97-AF65-F5344CB8AC3E}">
        <p14:creationId xmlns:p14="http://schemas.microsoft.com/office/powerpoint/2010/main" val="3651690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0382-A697-BF0E-827A-E2E7C2A6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ESPEI MCMC on Roar collab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BF43A-D5E6-63AF-13FC-87F607B0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D1C1D"/>
                </a:solidFill>
                <a:effectLst/>
                <a:latin typeface="Calibri" panose="020F0502020204030204" pitchFamily="34" charset="0"/>
              </a:rPr>
              <a:t>Activate environment in Roar collab</a:t>
            </a:r>
          </a:p>
          <a:p>
            <a:r>
              <a:rPr lang="en-US" b="0" i="0" dirty="0" err="1">
                <a:solidFill>
                  <a:srgbClr val="1D1C1D"/>
                </a:solidFill>
                <a:effectLst/>
                <a:latin typeface="Calibri" panose="020F0502020204030204" pitchFamily="34" charset="0"/>
              </a:rPr>
              <a:t>conda</a:t>
            </a:r>
            <a:r>
              <a:rPr lang="en-US" b="0" i="0" dirty="0">
                <a:solidFill>
                  <a:srgbClr val="1D1C1D"/>
                </a:solidFill>
                <a:effectLst/>
                <a:latin typeface="Calibri" panose="020F0502020204030204" pitchFamily="34" charset="0"/>
              </a:rPr>
              <a:t> activate your ESPEI environment</a:t>
            </a:r>
            <a:endParaRPr lang="en-US" dirty="0"/>
          </a:p>
          <a:p>
            <a:r>
              <a:rPr lang="en-US" dirty="0"/>
              <a:t>Prepare the input data:</a:t>
            </a:r>
          </a:p>
          <a:p>
            <a:pPr lvl="1"/>
            <a:r>
              <a:rPr lang="en-US" dirty="0"/>
              <a:t>Input files (</a:t>
            </a:r>
            <a:r>
              <a:rPr lang="en-US" dirty="0" err="1"/>
              <a:t>json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MCMC </a:t>
            </a:r>
            <a:r>
              <a:rPr lang="en-US" dirty="0" err="1"/>
              <a:t>setting.yaml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Sbatch</a:t>
            </a:r>
            <a:r>
              <a:rPr lang="en-US" dirty="0"/>
              <a:t> job file: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E911A-38A5-4D09-170D-752D88747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249" y="4301153"/>
            <a:ext cx="3234956" cy="201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19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3F24-292B-37E4-CA5D-DBCA22A3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0D13E-2D1A-C87E-48CD-25FFE4DC4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96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13B3-16BF-7482-907C-BA5F4541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Thermodynamic modeling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EA42C0-1525-1A7F-D8D9-D6898F2184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LAVES phases</a:t>
                </a:r>
              </a:p>
              <a:p>
                <a:pPr marL="0" indent="0">
                  <a:buNone/>
                </a:pPr>
                <a:r>
                  <a:rPr lang="en-US" sz="2000" dirty="0"/>
                  <a:t>Laves_C15 of </a:t>
                </a:r>
                <a:r>
                  <a:rPr lang="en-US" sz="2000" dirty="0" err="1"/>
                  <a:t>HfMo</a:t>
                </a:r>
                <a:r>
                  <a:rPr lang="en-US" sz="2000" dirty="0"/>
                  <a:t> system, sublattice model </a:t>
                </a:r>
                <a:r>
                  <a:rPr lang="en-US" sz="2000" kern="1200" dirty="0">
                    <a:solidFill>
                      <a:schemeClr val="dk1"/>
                    </a:solidFill>
                    <a:effectLst/>
                    <a:ea typeface="+mn-ea"/>
                    <a:cs typeface="+mn-cs"/>
                  </a:rPr>
                  <a:t>(</a:t>
                </a:r>
                <a:r>
                  <a:rPr lang="en-US" sz="2000" dirty="0"/>
                  <a:t>Hf, Mo</a:t>
                </a:r>
                <a:r>
                  <a:rPr lang="en-US" sz="2000" kern="1200" dirty="0">
                    <a:solidFill>
                      <a:schemeClr val="dk1"/>
                    </a:solidFill>
                    <a:effectLst/>
                    <a:ea typeface="+mn-ea"/>
                    <a:cs typeface="+mn-cs"/>
                  </a:rPr>
                  <a:t>)</a:t>
                </a:r>
                <a:r>
                  <a:rPr lang="en-US" sz="2000" kern="1200" baseline="-25000" dirty="0">
                    <a:solidFill>
                      <a:schemeClr val="dk1"/>
                    </a:solidFill>
                    <a:effectLst/>
                    <a:ea typeface="+mn-ea"/>
                    <a:cs typeface="+mn-cs"/>
                  </a:rPr>
                  <a:t>2</a:t>
                </a:r>
                <a:r>
                  <a:rPr lang="en-US" sz="2000" kern="1200" dirty="0">
                    <a:solidFill>
                      <a:schemeClr val="dk1"/>
                    </a:solidFill>
                    <a:effectLst/>
                    <a:ea typeface="+mn-ea"/>
                    <a:cs typeface="+mn-cs"/>
                  </a:rPr>
                  <a:t> (</a:t>
                </a:r>
                <a:r>
                  <a:rPr lang="en-US" sz="2000" dirty="0"/>
                  <a:t>Hf, Mo</a:t>
                </a:r>
                <a:r>
                  <a:rPr lang="en-US" sz="2000" kern="1200" dirty="0">
                    <a:solidFill>
                      <a:schemeClr val="dk1"/>
                    </a:solidFill>
                    <a:effectLst/>
                    <a:ea typeface="+mn-ea"/>
                    <a:cs typeface="+mn-cs"/>
                  </a:rPr>
                  <a:t>)</a:t>
                </a:r>
                <a:r>
                  <a:rPr lang="en-US" sz="2000" kern="1200" baseline="-25000" dirty="0">
                    <a:solidFill>
                      <a:schemeClr val="dk1"/>
                    </a:solidFill>
                    <a:effectLst/>
                    <a:ea typeface="+mn-ea"/>
                    <a:cs typeface="+mn-cs"/>
                  </a:rPr>
                  <a:t>1, </a:t>
                </a:r>
                <a:r>
                  <a:rPr lang="en-US" sz="2000" dirty="0">
                    <a:effectLst/>
                  </a:rPr>
                  <a:t>The Gibbs energy of a HfMo2 phase is generally formulated as: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𝑅𝑒𝑓</m:t>
                        </m:r>
                      </m:sup>
                    </m:sSub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sup>
                    </m:sSubSup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𝑒𝑥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Reference state energy 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𝑅𝑒𝑓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𝐻𝐹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𝑀𝑜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Ideal mixing energy: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𝑖𝑑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[1∗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𝐻𝑓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𝐻𝑓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𝑀𝑜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𝑀𝑜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+2∗(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𝐻𝑓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𝑙𝑛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𝐻𝑓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𝑀𝑜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𝑙𝑛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𝑀𝑜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Interaction energy between different components in the same sublattice: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𝑒𝑥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𝑀𝑜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𝐻𝑓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𝑀𝑜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EA42C0-1525-1A7F-D8D9-D6898F218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8E447-3613-4B06-B204-0FBBC9F6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E23CA-8047-481F-8C19-73A02570E07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1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3282</TotalTime>
  <Words>1449</Words>
  <Application>Microsoft Office PowerPoint</Application>
  <PresentationFormat>Widescreen</PresentationFormat>
  <Paragraphs>292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SimSun</vt:lpstr>
      <vt:lpstr>-apple-system</vt:lpstr>
      <vt:lpstr>Arial</vt:lpstr>
      <vt:lpstr>Calibri</vt:lpstr>
      <vt:lpstr>Calibri Light</vt:lpstr>
      <vt:lpstr>Cambria Math</vt:lpstr>
      <vt:lpstr>Times New Roman</vt:lpstr>
      <vt:lpstr>Office Theme</vt:lpstr>
      <vt:lpstr>Automation of thermodynamic modeling</vt:lpstr>
      <vt:lpstr>Codes on github</vt:lpstr>
      <vt:lpstr>Automation workflow</vt:lpstr>
      <vt:lpstr>ESPEI Overview </vt:lpstr>
      <vt:lpstr>Phase name database</vt:lpstr>
      <vt:lpstr>LAVES phases of Hf-Mo </vt:lpstr>
      <vt:lpstr>Structures builder</vt:lpstr>
      <vt:lpstr>Automation workflow</vt:lpstr>
      <vt:lpstr>ESPEI Input data</vt:lpstr>
      <vt:lpstr>ESPEI Input data</vt:lpstr>
      <vt:lpstr>ESPEI Input data</vt:lpstr>
      <vt:lpstr>Hf-Mo phase boundary data</vt:lpstr>
      <vt:lpstr>Units</vt:lpstr>
      <vt:lpstr>Pysipfenn result to ESPEI JSON</vt:lpstr>
      <vt:lpstr>DFTTK Mongodb to espei JSON</vt:lpstr>
      <vt:lpstr>Hf-Mo LAVES_C15</vt:lpstr>
      <vt:lpstr>Hf-Mo LAVES_C14</vt:lpstr>
      <vt:lpstr>Hf-Mo LAVES_C36</vt:lpstr>
      <vt:lpstr>Input data for ESPEI parameter selection </vt:lpstr>
      <vt:lpstr>Phase diagram generation by ESEPI Parameter selection</vt:lpstr>
      <vt:lpstr>ESPEI MCMC optimization </vt:lpstr>
      <vt:lpstr>Phase diagram optimization by ESEPI MCMC </vt:lpstr>
      <vt:lpstr>Run ESPEI MCMC on Roar collab</vt:lpstr>
      <vt:lpstr>PowerPoint Presentation</vt:lpstr>
      <vt:lpstr>Thermodynamic modeling 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of thermodynamic modeling</dc:title>
  <dc:creator>Shuang Lin</dc:creator>
  <cp:lastModifiedBy>Richter, Alexander Matthaus</cp:lastModifiedBy>
  <cp:revision>3</cp:revision>
  <dcterms:created xsi:type="dcterms:W3CDTF">2023-10-30T14:10:10Z</dcterms:created>
  <dcterms:modified xsi:type="dcterms:W3CDTF">2026-10-29T19:11:41Z</dcterms:modified>
</cp:coreProperties>
</file>